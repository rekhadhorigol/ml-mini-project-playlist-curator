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7204DF7-E71C-0229-6C1D-E6C85BA09281}">
          <p14:sldIdLst>
            <p14:sldId id="256"/>
            <p14:sldId id="257"/>
            <p14:sldId id="258"/>
          </p14:sldIdLst>
        </p14:section>
        <p14:section name="Method" id="{5011FE1B-70C1-A57C-04BF-1D5829EC1B02}">
          <p14:sldIdLst>
            <p14:sldId id="259"/>
            <p14:sldId id="260"/>
          </p14:sldIdLst>
        </p14:section>
        <p14:section name="Results" id="{C4D60E2F-786C-2155-BE87-C42FE97A4D2D}">
          <p14:sldIdLst>
            <p14:sldId id="261"/>
            <p14:sldId id="262"/>
            <p14:sldId id="263"/>
            <p14:sldId id="264"/>
            <p14:sldId id="265"/>
            <p14:sldId id="266"/>
          </p14:sldIdLst>
        </p14:section>
        <p14:section name="Wrap-up" id="{8F869065-D199-2B1D-7BA9-F9BE7B89F95A}">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8" d="100"/>
          <a:sy n="108" d="100"/>
        </p:scale>
        <p:origin x="8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033"/>
                </a:solidFill>
                <a:latin typeface="+mn-lt"/>
              </a:defRPr>
            </a:pPr>
            <a:r>
              <a:rPr sz="1300" b="0" i="0" u="none" strike="noStrike">
                <a:solidFill>
                  <a:srgbClr val="1B1033"/>
                </a:solidFill>
                <a:latin typeface="+mn-lt"/>
              </a:rPr>
              <a:t>5-fold CV accuracy, feature set A</a:t>
            </a:r>
          </a:p>
        </c:rich>
      </c:tx>
      <c:overlay val="0"/>
    </c:title>
    <c:autoTitleDeleted val="0"/>
    <c:plotArea>
      <c:layout/>
      <c:barChart>
        <c:barDir val="col"/>
        <c:grouping val="clustered"/>
        <c:varyColors val="0"/>
        <c:ser>
          <c:idx val="0"/>
          <c:order val="0"/>
          <c:tx>
            <c:strRef>
              <c:f>Sheet1!$B$1</c:f>
              <c:strCache>
                <c:ptCount val="1"/>
                <c:pt idx="0">
                  <c:v>Scaled</c:v>
                </c:pt>
              </c:strCache>
            </c:strRef>
          </c:tx>
          <c:spPr>
            <a:solidFill>
              <a:srgbClr val="1F9E94"/>
            </a:solidFill>
            <a:effectLst/>
          </c:spPr>
          <c:invertIfNegative val="0"/>
          <c:dLbls>
            <c:numFmt formatCode="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Perceptron</c:v>
                </c:pt>
                <c:pt idx="1">
                  <c:v>Poly SVM</c:v>
                </c:pt>
                <c:pt idx="2">
                  <c:v>Sigmoid SVM</c:v>
                </c:pt>
                <c:pt idx="3">
                  <c:v>RBF SVM</c:v>
                </c:pt>
                <c:pt idx="4">
                  <c:v>NN (1 hidden)</c:v>
                </c:pt>
              </c:strCache>
            </c:strRef>
          </c:cat>
          <c:val>
            <c:numRef>
              <c:f>Sheet1!$B$2:$B$6</c:f>
              <c:numCache>
                <c:formatCode>General</c:formatCode>
                <c:ptCount val="5"/>
                <c:pt idx="0">
                  <c:v>0.16900000000000001</c:v>
                </c:pt>
                <c:pt idx="1">
                  <c:v>0.23</c:v>
                </c:pt>
                <c:pt idx="2">
                  <c:v>0.29299999999999998</c:v>
                </c:pt>
                <c:pt idx="3">
                  <c:v>0.27400000000000002</c:v>
                </c:pt>
                <c:pt idx="4">
                  <c:v>0.311</c:v>
                </c:pt>
              </c:numCache>
            </c:numRef>
          </c:val>
          <c:extLst>
            <c:ext xmlns:c16="http://schemas.microsoft.com/office/drawing/2014/chart" uri="{C3380CC4-5D6E-409C-BE32-E72D297353CC}">
              <c16:uniqueId val="{00000000-73EB-40D1-A9CB-13F138522EC0}"/>
            </c:ext>
          </c:extLst>
        </c:ser>
        <c:ser>
          <c:idx val="1"/>
          <c:order val="1"/>
          <c:tx>
            <c:strRef>
              <c:f>Sheet1!$C$1</c:f>
              <c:strCache>
                <c:ptCount val="1"/>
                <c:pt idx="0">
                  <c:v>Unscaled</c:v>
                </c:pt>
              </c:strCache>
            </c:strRef>
          </c:tx>
          <c:spPr>
            <a:solidFill>
              <a:srgbClr val="B7A9D9"/>
            </a:solidFill>
            <a:effectLst/>
          </c:spPr>
          <c:invertIfNegative val="0"/>
          <c:dLbls>
            <c:numFmt formatCode="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Perceptron</c:v>
                </c:pt>
                <c:pt idx="1">
                  <c:v>Poly SVM</c:v>
                </c:pt>
                <c:pt idx="2">
                  <c:v>Sigmoid SVM</c:v>
                </c:pt>
                <c:pt idx="3">
                  <c:v>RBF SVM</c:v>
                </c:pt>
                <c:pt idx="4">
                  <c:v>NN (1 hidden)</c:v>
                </c:pt>
              </c:strCache>
            </c:strRef>
          </c:cat>
          <c:val>
            <c:numRef>
              <c:f>Sheet1!$C$2:$C$6</c:f>
              <c:numCache>
                <c:formatCode>General</c:formatCode>
                <c:ptCount val="5"/>
                <c:pt idx="0">
                  <c:v>9.8000000000000004E-2</c:v>
                </c:pt>
                <c:pt idx="1">
                  <c:v>0.14399999999999999</c:v>
                </c:pt>
                <c:pt idx="2">
                  <c:v>5.8999999999999997E-2</c:v>
                </c:pt>
                <c:pt idx="3">
                  <c:v>0.104</c:v>
                </c:pt>
                <c:pt idx="4">
                  <c:v>0.20699999999999999</c:v>
                </c:pt>
              </c:numCache>
            </c:numRef>
          </c:val>
          <c:extLst>
            <c:ext xmlns:c16="http://schemas.microsoft.com/office/drawing/2014/chart" uri="{C3380CC4-5D6E-409C-BE32-E72D297353CC}">
              <c16:uniqueId val="{00000001-73EB-40D1-A9CB-13F138522EC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25C75"/>
                </a:solidFill>
                <a:latin typeface="+mn-lt"/>
              </a:defRPr>
            </a:pPr>
            <a:endParaRPr lang="en-US"/>
          </a:p>
        </c:txPr>
        <c:crossAx val="2094734552"/>
        <c:crosses val="autoZero"/>
        <c:auto val="1"/>
        <c:lblAlgn val="ctr"/>
        <c:lblOffset val="100"/>
        <c:noMultiLvlLbl val="1"/>
      </c:catAx>
      <c:valAx>
        <c:axId val="2094734552"/>
        <c:scaling>
          <c:orientation val="minMax"/>
          <c:max val="0.4"/>
          <c:min val="0"/>
        </c:scaling>
        <c:delete val="0"/>
        <c:axPos val="l"/>
        <c:majorGridlines>
          <c:spPr>
            <a:ln w="6350" cap="flat">
              <a:solidFill>
                <a:srgbClr val="E3DF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0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033"/>
                </a:solidFill>
                <a:latin typeface="+mn-lt"/>
              </a:defRPr>
            </a:pPr>
            <a:r>
              <a:rPr sz="1300" b="0" i="0" u="none" strike="noStrike">
                <a:solidFill>
                  <a:srgbClr val="1B1033"/>
                </a:solidFill>
                <a:latin typeface="+mn-lt"/>
              </a:rPr>
              <a:t>5-fold CV accuracy, feature set C</a:t>
            </a:r>
          </a:p>
        </c:rich>
      </c:tx>
      <c:overlay val="0"/>
    </c:title>
    <c:autoTitleDeleted val="0"/>
    <c:plotArea>
      <c:layout/>
      <c:barChart>
        <c:barDir val="col"/>
        <c:grouping val="clustered"/>
        <c:varyColors val="0"/>
        <c:ser>
          <c:idx val="0"/>
          <c:order val="0"/>
          <c:tx>
            <c:strRef>
              <c:f>Sheet1!$B$1</c:f>
              <c:strCache>
                <c:ptCount val="1"/>
                <c:pt idx="0">
                  <c:v>Default</c:v>
                </c:pt>
              </c:strCache>
            </c:strRef>
          </c:tx>
          <c:spPr>
            <a:solidFill>
              <a:srgbClr val="B7A9D9"/>
            </a:solidFill>
            <a:effectLst/>
          </c:spPr>
          <c:invertIfNegative val="0"/>
          <c:dLbls>
            <c:numFmt formatCode="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SVM</c:v>
                </c:pt>
                <c:pt idx="1">
                  <c:v>HistGB</c:v>
                </c:pt>
                <c:pt idx="2">
                  <c:v>Random Forest</c:v>
                </c:pt>
              </c:strCache>
            </c:strRef>
          </c:cat>
          <c:val>
            <c:numRef>
              <c:f>Sheet1!$B$2:$B$4</c:f>
              <c:numCache>
                <c:formatCode>General</c:formatCode>
                <c:ptCount val="3"/>
                <c:pt idx="0">
                  <c:v>0.40899999999999997</c:v>
                </c:pt>
                <c:pt idx="1">
                  <c:v>0.48899999999999999</c:v>
                </c:pt>
                <c:pt idx="2">
                  <c:v>0.52400000000000002</c:v>
                </c:pt>
              </c:numCache>
            </c:numRef>
          </c:val>
          <c:extLst>
            <c:ext xmlns:c16="http://schemas.microsoft.com/office/drawing/2014/chart" uri="{C3380CC4-5D6E-409C-BE32-E72D297353CC}">
              <c16:uniqueId val="{00000000-8560-425E-B8F7-051FF56F6FA1}"/>
            </c:ext>
          </c:extLst>
        </c:ser>
        <c:ser>
          <c:idx val="1"/>
          <c:order val="1"/>
          <c:tx>
            <c:strRef>
              <c:f>Sheet1!$C$1</c:f>
              <c:strCache>
                <c:ptCount val="1"/>
                <c:pt idx="0">
                  <c:v>Tuned</c:v>
                </c:pt>
              </c:strCache>
            </c:strRef>
          </c:tx>
          <c:spPr>
            <a:solidFill>
              <a:srgbClr val="E0457B"/>
            </a:solidFill>
            <a:effectLst/>
          </c:spPr>
          <c:invertIfNegative val="0"/>
          <c:dLbls>
            <c:numFmt formatCode="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SVM</c:v>
                </c:pt>
                <c:pt idx="1">
                  <c:v>HistGB</c:v>
                </c:pt>
                <c:pt idx="2">
                  <c:v>Random Forest</c:v>
                </c:pt>
              </c:strCache>
            </c:strRef>
          </c:cat>
          <c:val>
            <c:numRef>
              <c:f>Sheet1!$C$2:$C$4</c:f>
              <c:numCache>
                <c:formatCode>General</c:formatCode>
                <c:ptCount val="3"/>
                <c:pt idx="0">
                  <c:v>0.46899999999999997</c:v>
                </c:pt>
                <c:pt idx="1">
                  <c:v>0.52800000000000002</c:v>
                </c:pt>
                <c:pt idx="2">
                  <c:v>0.54400000000000004</c:v>
                </c:pt>
              </c:numCache>
            </c:numRef>
          </c:val>
          <c:extLst>
            <c:ext xmlns:c16="http://schemas.microsoft.com/office/drawing/2014/chart" uri="{C3380CC4-5D6E-409C-BE32-E72D297353CC}">
              <c16:uniqueId val="{00000001-8560-425E-B8F7-051FF56F6FA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25C75"/>
                </a:solidFill>
                <a:latin typeface="+mn-lt"/>
              </a:defRPr>
            </a:pPr>
            <a:endParaRPr lang="en-US"/>
          </a:p>
        </c:txPr>
        <c:crossAx val="2094734552"/>
        <c:crosses val="autoZero"/>
        <c:auto val="1"/>
        <c:lblAlgn val="ctr"/>
        <c:lblOffset val="100"/>
        <c:noMultiLvlLbl val="1"/>
      </c:catAx>
      <c:valAx>
        <c:axId val="2094734552"/>
        <c:scaling>
          <c:orientation val="minMax"/>
          <c:max val="0.7"/>
          <c:min val="0"/>
        </c:scaling>
        <c:delete val="0"/>
        <c:axPos val="l"/>
        <c:majorGridlines>
          <c:spPr>
            <a:ln w="6350" cap="flat">
              <a:solidFill>
                <a:srgbClr val="E3DF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0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033"/>
                </a:solidFill>
                <a:latin typeface="+mn-lt"/>
              </a:defRPr>
            </a:pPr>
            <a:r>
              <a:rPr sz="1300" b="0" i="0" u="none" strike="noStrike">
                <a:solidFill>
                  <a:srgbClr val="1B1033"/>
                </a:solidFill>
                <a:latin typeface="+mn-lt"/>
              </a:rPr>
              <a:t>Repeated 5-fold CV accuracy (training split)</a:t>
            </a:r>
          </a:p>
        </c:rich>
      </c:tx>
      <c:overlay val="0"/>
    </c:title>
    <c:autoTitleDeleted val="0"/>
    <c:plotArea>
      <c:layout/>
      <c:barChart>
        <c:barDir val="bar"/>
        <c:grouping val="clustered"/>
        <c:varyColors val="0"/>
        <c:ser>
          <c:idx val="0"/>
          <c:order val="0"/>
          <c:tx>
            <c:strRef>
              <c:f>Sheet1!$B$1</c:f>
              <c:strCache>
                <c:ptCount val="1"/>
                <c:pt idx="0">
                  <c:v>CV accuracy</c:v>
                </c:pt>
              </c:strCache>
            </c:strRef>
          </c:tx>
          <c:spPr>
            <a:solidFill>
              <a:srgbClr val="625C75"/>
            </a:solidFill>
            <a:effectLst/>
          </c:spPr>
          <c:invertIfNegative val="0"/>
          <c:dPt>
            <c:idx val="0"/>
            <c:invertIfNegative val="0"/>
            <c:bubble3D val="0"/>
            <c:extLst>
              <c:ext xmlns:c16="http://schemas.microsoft.com/office/drawing/2014/chart" uri="{C3380CC4-5D6E-409C-BE32-E72D297353CC}">
                <c16:uniqueId val="{00000001-997E-4C11-8881-7765A37E36DA}"/>
              </c:ext>
            </c:extLst>
          </c:dPt>
          <c:dPt>
            <c:idx val="1"/>
            <c:invertIfNegative val="0"/>
            <c:bubble3D val="0"/>
            <c:extLst>
              <c:ext xmlns:c16="http://schemas.microsoft.com/office/drawing/2014/chart" uri="{C3380CC4-5D6E-409C-BE32-E72D297353CC}">
                <c16:uniqueId val="{00000003-997E-4C11-8881-7765A37E36DA}"/>
              </c:ext>
            </c:extLst>
          </c:dPt>
          <c:dPt>
            <c:idx val="2"/>
            <c:invertIfNegative val="0"/>
            <c:bubble3D val="0"/>
            <c:spPr>
              <a:solidFill>
                <a:srgbClr val="1F9E94"/>
              </a:solidFill>
              <a:effectLst/>
            </c:spPr>
            <c:extLst>
              <c:ext xmlns:c16="http://schemas.microsoft.com/office/drawing/2014/chart" uri="{C3380CC4-5D6E-409C-BE32-E72D297353CC}">
                <c16:uniqueId val="{00000005-997E-4C11-8881-7765A37E36DA}"/>
              </c:ext>
            </c:extLst>
          </c:dPt>
          <c:dPt>
            <c:idx val="3"/>
            <c:invertIfNegative val="0"/>
            <c:bubble3D val="0"/>
            <c:spPr>
              <a:solidFill>
                <a:srgbClr val="1F9E94"/>
              </a:solidFill>
              <a:effectLst/>
            </c:spPr>
            <c:extLst>
              <c:ext xmlns:c16="http://schemas.microsoft.com/office/drawing/2014/chart" uri="{C3380CC4-5D6E-409C-BE32-E72D297353CC}">
                <c16:uniqueId val="{00000007-997E-4C11-8881-7765A37E36DA}"/>
              </c:ext>
            </c:extLst>
          </c:dPt>
          <c:dPt>
            <c:idx val="4"/>
            <c:invertIfNegative val="0"/>
            <c:bubble3D val="0"/>
            <c:spPr>
              <a:solidFill>
                <a:srgbClr val="1F9E94"/>
              </a:solidFill>
              <a:effectLst/>
            </c:spPr>
            <c:extLst>
              <c:ext xmlns:c16="http://schemas.microsoft.com/office/drawing/2014/chart" uri="{C3380CC4-5D6E-409C-BE32-E72D297353CC}">
                <c16:uniqueId val="{00000009-997E-4C11-8881-7765A37E36DA}"/>
              </c:ext>
            </c:extLst>
          </c:dPt>
          <c:dPt>
            <c:idx val="5"/>
            <c:invertIfNegative val="0"/>
            <c:bubble3D val="0"/>
            <c:spPr>
              <a:solidFill>
                <a:srgbClr val="E0457B"/>
              </a:solidFill>
              <a:effectLst/>
            </c:spPr>
            <c:extLst>
              <c:ext xmlns:c16="http://schemas.microsoft.com/office/drawing/2014/chart" uri="{C3380CC4-5D6E-409C-BE32-E72D297353CC}">
                <c16:uniqueId val="{0000000B-997E-4C11-8881-7765A37E36DA}"/>
              </c:ext>
            </c:extLst>
          </c:dPt>
          <c:dLbls>
            <c:numFmt formatCode="0.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Baseline RBF SVM</c:v>
                </c:pt>
                <c:pt idx="1">
                  <c:v>Baseline NN</c:v>
                </c:pt>
                <c:pt idx="2">
                  <c:v>MLP (tuned)</c:v>
                </c:pt>
                <c:pt idx="3">
                  <c:v>SVM (tuned)</c:v>
                </c:pt>
                <c:pt idx="4">
                  <c:v>HistGB (tuned)</c:v>
                </c:pt>
                <c:pt idx="5">
                  <c:v>Random Forest (tuned)</c:v>
                </c:pt>
              </c:strCache>
            </c:strRef>
          </c:cat>
          <c:val>
            <c:numRef>
              <c:f>Sheet1!$B$2:$B$7</c:f>
              <c:numCache>
                <c:formatCode>General</c:formatCode>
                <c:ptCount val="6"/>
                <c:pt idx="0">
                  <c:v>0.29399999999999998</c:v>
                </c:pt>
                <c:pt idx="1">
                  <c:v>0.31</c:v>
                </c:pt>
                <c:pt idx="2">
                  <c:v>0.45900000000000002</c:v>
                </c:pt>
                <c:pt idx="3">
                  <c:v>0.47</c:v>
                </c:pt>
                <c:pt idx="4">
                  <c:v>0.52300000000000002</c:v>
                </c:pt>
                <c:pt idx="5">
                  <c:v>0.52700000000000002</c:v>
                </c:pt>
              </c:numCache>
            </c:numRef>
          </c:val>
          <c:extLst>
            <c:ext xmlns:c16="http://schemas.microsoft.com/office/drawing/2014/chart" uri="{C3380CC4-5D6E-409C-BE32-E72D297353CC}">
              <c16:uniqueId val="{0000000C-997E-4C11-8881-7765A37E36D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25C75"/>
                </a:solidFill>
                <a:latin typeface="+mn-lt"/>
              </a:defRPr>
            </a:pPr>
            <a:endParaRPr lang="en-US"/>
          </a:p>
        </c:txPr>
        <c:crossAx val="2094734552"/>
        <c:crosses val="autoZero"/>
        <c:auto val="1"/>
        <c:lblAlgn val="ctr"/>
        <c:lblOffset val="100"/>
        <c:noMultiLvlLbl val="1"/>
      </c:catAx>
      <c:valAx>
        <c:axId val="2094734552"/>
        <c:scaling>
          <c:orientation val="minMax"/>
          <c:max val="0.65"/>
          <c:min val="0"/>
        </c:scaling>
        <c:delete val="0"/>
        <c:axPos val="b"/>
        <c:majorGridlines>
          <c:spPr>
            <a:ln w="6350" cap="flat">
              <a:solidFill>
                <a:srgbClr val="E3DFEE"/>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033"/>
                </a:solidFill>
                <a:latin typeface="+mn-lt"/>
              </a:defRPr>
            </a:pPr>
            <a:r>
              <a:rPr lang="en-US" sz="1300" b="0" i="0" u="none" strike="noStrike">
                <a:solidFill>
                  <a:srgbClr val="1B1033"/>
                </a:solidFill>
                <a:latin typeface="+mn-lt"/>
              </a:rPr>
              <a:t>Permutation importance</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1F9E94"/>
            </a:solidFill>
            <a:effectLst/>
          </c:spPr>
          <c:invertIfNegative val="0"/>
          <c:dPt>
            <c:idx val="0"/>
            <c:invertIfNegative val="0"/>
            <c:bubble3D val="0"/>
            <c:spPr>
              <a:solidFill>
                <a:srgbClr val="1F9E94"/>
              </a:solidFill>
              <a:effectLst/>
            </c:spPr>
            <c:extLst>
              <c:ext xmlns:c16="http://schemas.microsoft.com/office/drawing/2014/chart" uri="{C3380CC4-5D6E-409C-BE32-E72D297353CC}">
                <c16:uniqueId val="{00000001-5C18-4D4A-8900-4D0CF0E2D3E7}"/>
              </c:ext>
            </c:extLst>
          </c:dPt>
          <c:dPt>
            <c:idx val="1"/>
            <c:invertIfNegative val="0"/>
            <c:bubble3D val="0"/>
            <c:spPr>
              <a:solidFill>
                <a:srgbClr val="1F9E94"/>
              </a:solidFill>
              <a:effectLst/>
            </c:spPr>
            <c:extLst>
              <c:ext xmlns:c16="http://schemas.microsoft.com/office/drawing/2014/chart" uri="{C3380CC4-5D6E-409C-BE32-E72D297353CC}">
                <c16:uniqueId val="{00000003-5C18-4D4A-8900-4D0CF0E2D3E7}"/>
              </c:ext>
            </c:extLst>
          </c:dPt>
          <c:dPt>
            <c:idx val="2"/>
            <c:invertIfNegative val="0"/>
            <c:bubble3D val="0"/>
            <c:spPr>
              <a:solidFill>
                <a:srgbClr val="1F9E94"/>
              </a:solidFill>
              <a:effectLst/>
            </c:spPr>
            <c:extLst>
              <c:ext xmlns:c16="http://schemas.microsoft.com/office/drawing/2014/chart" uri="{C3380CC4-5D6E-409C-BE32-E72D297353CC}">
                <c16:uniqueId val="{00000005-5C18-4D4A-8900-4D0CF0E2D3E7}"/>
              </c:ext>
            </c:extLst>
          </c:dPt>
          <c:dPt>
            <c:idx val="3"/>
            <c:invertIfNegative val="0"/>
            <c:bubble3D val="0"/>
            <c:spPr>
              <a:solidFill>
                <a:srgbClr val="1F9E94"/>
              </a:solidFill>
              <a:effectLst/>
            </c:spPr>
            <c:extLst>
              <c:ext xmlns:c16="http://schemas.microsoft.com/office/drawing/2014/chart" uri="{C3380CC4-5D6E-409C-BE32-E72D297353CC}">
                <c16:uniqueId val="{00000007-5C18-4D4A-8900-4D0CF0E2D3E7}"/>
              </c:ext>
            </c:extLst>
          </c:dPt>
          <c:dPt>
            <c:idx val="4"/>
            <c:invertIfNegative val="0"/>
            <c:bubble3D val="0"/>
            <c:spPr>
              <a:solidFill>
                <a:srgbClr val="1F9E94"/>
              </a:solidFill>
              <a:effectLst/>
            </c:spPr>
            <c:extLst>
              <c:ext xmlns:c16="http://schemas.microsoft.com/office/drawing/2014/chart" uri="{C3380CC4-5D6E-409C-BE32-E72D297353CC}">
                <c16:uniqueId val="{00000009-5C18-4D4A-8900-4D0CF0E2D3E7}"/>
              </c:ext>
            </c:extLst>
          </c:dPt>
          <c:dPt>
            <c:idx val="5"/>
            <c:invertIfNegative val="0"/>
            <c:bubble3D val="0"/>
            <c:spPr>
              <a:solidFill>
                <a:srgbClr val="1F9E94"/>
              </a:solidFill>
              <a:effectLst/>
            </c:spPr>
            <c:extLst>
              <c:ext xmlns:c16="http://schemas.microsoft.com/office/drawing/2014/chart" uri="{C3380CC4-5D6E-409C-BE32-E72D297353CC}">
                <c16:uniqueId val="{0000000B-5C18-4D4A-8900-4D0CF0E2D3E7}"/>
              </c:ext>
            </c:extLst>
          </c:dPt>
          <c:dPt>
            <c:idx val="6"/>
            <c:invertIfNegative val="0"/>
            <c:bubble3D val="0"/>
            <c:spPr>
              <a:solidFill>
                <a:srgbClr val="1F9E94"/>
              </a:solidFill>
              <a:effectLst/>
            </c:spPr>
            <c:extLst>
              <c:ext xmlns:c16="http://schemas.microsoft.com/office/drawing/2014/chart" uri="{C3380CC4-5D6E-409C-BE32-E72D297353CC}">
                <c16:uniqueId val="{0000000D-5C18-4D4A-8900-4D0CF0E2D3E7}"/>
              </c:ext>
            </c:extLst>
          </c:dPt>
          <c:dPt>
            <c:idx val="7"/>
            <c:invertIfNegative val="0"/>
            <c:bubble3D val="0"/>
            <c:spPr>
              <a:solidFill>
                <a:srgbClr val="E0457B"/>
              </a:solidFill>
              <a:effectLst/>
            </c:spPr>
            <c:extLst>
              <c:ext xmlns:c16="http://schemas.microsoft.com/office/drawing/2014/chart" uri="{C3380CC4-5D6E-409C-BE32-E72D297353CC}">
                <c16:uniqueId val="{0000000F-5C18-4D4A-8900-4D0CF0E2D3E7}"/>
              </c:ext>
            </c:extLst>
          </c:dPt>
          <c:dLbls>
            <c:numFmt formatCode="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energy</c:v>
                </c:pt>
                <c:pt idx="1">
                  <c:v>energy_dance_ratio</c:v>
                </c:pt>
                <c:pt idx="2">
                  <c:v>loudness</c:v>
                </c:pt>
                <c:pt idx="3">
                  <c:v>track_popularity</c:v>
                </c:pt>
                <c:pt idx="4">
                  <c:v>danceability</c:v>
                </c:pt>
                <c:pt idx="5">
                  <c:v>speechiness</c:v>
                </c:pt>
                <c:pt idx="6">
                  <c:v>instrumentalness</c:v>
                </c:pt>
                <c:pt idx="7">
                  <c:v>release_year</c:v>
                </c:pt>
              </c:strCache>
            </c:strRef>
          </c:cat>
          <c:val>
            <c:numRef>
              <c:f>Sheet1!$B$2:$B$9</c:f>
              <c:numCache>
                <c:formatCode>General</c:formatCode>
                <c:ptCount val="8"/>
                <c:pt idx="0">
                  <c:v>2.7E-2</c:v>
                </c:pt>
                <c:pt idx="1">
                  <c:v>2.8000000000000001E-2</c:v>
                </c:pt>
                <c:pt idx="2">
                  <c:v>3.5999999999999997E-2</c:v>
                </c:pt>
                <c:pt idx="3">
                  <c:v>0.04</c:v>
                </c:pt>
                <c:pt idx="4">
                  <c:v>4.2000000000000003E-2</c:v>
                </c:pt>
                <c:pt idx="5">
                  <c:v>4.2999999999999997E-2</c:v>
                </c:pt>
                <c:pt idx="6">
                  <c:v>0.06</c:v>
                </c:pt>
                <c:pt idx="7">
                  <c:v>0.27100000000000002</c:v>
                </c:pt>
              </c:numCache>
            </c:numRef>
          </c:val>
          <c:extLst>
            <c:ext xmlns:c16="http://schemas.microsoft.com/office/drawing/2014/chart" uri="{C3380CC4-5D6E-409C-BE32-E72D297353CC}">
              <c16:uniqueId val="{00000010-5C18-4D4A-8900-4D0CF0E2D3E7}"/>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2"/>
        <c:crosses val="autoZero"/>
        <c:auto val="1"/>
        <c:lblAlgn val="ctr"/>
        <c:lblOffset val="100"/>
        <c:noMultiLvlLbl val="1"/>
      </c:catAx>
      <c:valAx>
        <c:axId val="2094734552"/>
        <c:scaling>
          <c:orientation val="minMax"/>
          <c:max val="0.35"/>
          <c:min val="0"/>
        </c:scaling>
        <c:delete val="0"/>
        <c:axPos val="b"/>
        <c:majorGridlines>
          <c:spPr>
            <a:ln w="6350" cap="flat">
              <a:solidFill>
                <a:srgbClr val="E3DFEE"/>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033"/>
                </a:solidFill>
                <a:latin typeface="+mn-lt"/>
              </a:defRPr>
            </a:pPr>
            <a:r>
              <a:rPr lang="en-US" sz="1300" b="0" i="0" u="none" strike="noStrike">
                <a:solidFill>
                  <a:srgbClr val="1B1033"/>
                </a:solidFill>
                <a:latin typeface="+mn-lt"/>
              </a:rPr>
              <a:t>Out-of-fold results vs confidence threshold</a:t>
            </a:r>
          </a:p>
        </c:rich>
      </c:tx>
      <c:overlay val="0"/>
    </c:title>
    <c:autoTitleDeleted val="0"/>
    <c:plotArea>
      <c:layout/>
      <c:lineChart>
        <c:grouping val="standard"/>
        <c:varyColors val="0"/>
        <c:ser>
          <c:idx val="0"/>
          <c:order val="0"/>
          <c:tx>
            <c:strRef>
              <c:f>Sheet1!$B$1</c:f>
              <c:strCache>
                <c:ptCount val="1"/>
                <c:pt idx="0">
                  <c:v>Coverage (songs answered)</c:v>
                </c:pt>
              </c:strCache>
            </c:strRef>
          </c:tx>
          <c:spPr>
            <a:ln w="31750" cap="flat">
              <a:solidFill>
                <a:srgbClr val="1F9E94"/>
              </a:solidFill>
              <a:prstDash val="solid"/>
              <a:round/>
            </a:ln>
            <a:effectLst/>
          </c:spPr>
          <c:marker>
            <c:symbol val="circle"/>
            <c:size val="6"/>
            <c:spPr>
              <a:solidFill>
                <a:srgbClr val="1F9E94"/>
              </a:solidFill>
              <a:ln w="9525" cap="flat">
                <a:solidFill>
                  <a:srgbClr val="1F9E94"/>
                </a:solidFill>
                <a:prstDash val="solid"/>
                <a:round/>
              </a:ln>
              <a:effectLst/>
            </c:spPr>
          </c:marker>
          <c:cat>
            <c:strRef>
              <c:f>Sheet1!$A$2:$A$14</c:f>
              <c:strCache>
                <c:ptCount val="13"/>
                <c:pt idx="0">
                  <c:v>0</c:v>
                </c:pt>
                <c:pt idx="1">
                  <c:v>0.05</c:v>
                </c:pt>
                <c:pt idx="2">
                  <c:v>0.10</c:v>
                </c:pt>
                <c:pt idx="3">
                  <c:v>0.15</c:v>
                </c:pt>
                <c:pt idx="4">
                  <c:v>0.20</c:v>
                </c:pt>
                <c:pt idx="5">
                  <c:v>0.25</c:v>
                </c:pt>
                <c:pt idx="6">
                  <c:v>0.30</c:v>
                </c:pt>
                <c:pt idx="7">
                  <c:v>0.35</c:v>
                </c:pt>
                <c:pt idx="8">
                  <c:v>0.40</c:v>
                </c:pt>
                <c:pt idx="9">
                  <c:v>0.45</c:v>
                </c:pt>
                <c:pt idx="10">
                  <c:v>0.50</c:v>
                </c:pt>
                <c:pt idx="11">
                  <c:v>0.55</c:v>
                </c:pt>
                <c:pt idx="12">
                  <c:v>0.60</c:v>
                </c:pt>
              </c:strCache>
            </c:strRef>
          </c:cat>
          <c:val>
            <c:numRef>
              <c:f>Sheet1!$B$2:$B$14</c:f>
              <c:numCache>
                <c:formatCode>General</c:formatCode>
                <c:ptCount val="13"/>
                <c:pt idx="0">
                  <c:v>1</c:v>
                </c:pt>
                <c:pt idx="1">
                  <c:v>1</c:v>
                </c:pt>
                <c:pt idx="2">
                  <c:v>1</c:v>
                </c:pt>
                <c:pt idx="3">
                  <c:v>0.996</c:v>
                </c:pt>
                <c:pt idx="4">
                  <c:v>0.94099999999999995</c:v>
                </c:pt>
                <c:pt idx="5">
                  <c:v>0.79400000000000004</c:v>
                </c:pt>
                <c:pt idx="6">
                  <c:v>0.64400000000000002</c:v>
                </c:pt>
                <c:pt idx="7">
                  <c:v>0.52200000000000002</c:v>
                </c:pt>
                <c:pt idx="8">
                  <c:v>0.42799999999999999</c:v>
                </c:pt>
                <c:pt idx="9">
                  <c:v>0.33100000000000002</c:v>
                </c:pt>
                <c:pt idx="10">
                  <c:v>0.26900000000000002</c:v>
                </c:pt>
                <c:pt idx="11">
                  <c:v>0.19800000000000001</c:v>
                </c:pt>
                <c:pt idx="12">
                  <c:v>0.15</c:v>
                </c:pt>
              </c:numCache>
            </c:numRef>
          </c:val>
          <c:smooth val="0"/>
          <c:extLst>
            <c:ext xmlns:c16="http://schemas.microsoft.com/office/drawing/2014/chart" uri="{C3380CC4-5D6E-409C-BE32-E72D297353CC}">
              <c16:uniqueId val="{00000000-B155-4613-9B89-A463E4696AF5}"/>
            </c:ext>
          </c:extLst>
        </c:ser>
        <c:ser>
          <c:idx val="1"/>
          <c:order val="1"/>
          <c:tx>
            <c:strRef>
              <c:f>Sheet1!$C$1</c:f>
              <c:strCache>
                <c:ptCount val="1"/>
                <c:pt idx="0">
                  <c:v>Accuracy on answered songs</c:v>
                </c:pt>
              </c:strCache>
            </c:strRef>
          </c:tx>
          <c:spPr>
            <a:ln w="31750" cap="flat">
              <a:solidFill>
                <a:srgbClr val="E0457B"/>
              </a:solidFill>
              <a:prstDash val="solid"/>
              <a:round/>
            </a:ln>
            <a:effectLst/>
          </c:spPr>
          <c:marker>
            <c:symbol val="circle"/>
            <c:size val="6"/>
            <c:spPr>
              <a:solidFill>
                <a:srgbClr val="E0457B"/>
              </a:solidFill>
              <a:ln w="9525" cap="flat">
                <a:solidFill>
                  <a:srgbClr val="E0457B"/>
                </a:solidFill>
                <a:prstDash val="solid"/>
                <a:round/>
              </a:ln>
              <a:effectLst/>
            </c:spPr>
          </c:marker>
          <c:cat>
            <c:strRef>
              <c:f>Sheet1!$A$2:$A$14</c:f>
              <c:strCache>
                <c:ptCount val="13"/>
                <c:pt idx="0">
                  <c:v>0</c:v>
                </c:pt>
                <c:pt idx="1">
                  <c:v>0.05</c:v>
                </c:pt>
                <c:pt idx="2">
                  <c:v>0.10</c:v>
                </c:pt>
                <c:pt idx="3">
                  <c:v>0.15</c:v>
                </c:pt>
                <c:pt idx="4">
                  <c:v>0.20</c:v>
                </c:pt>
                <c:pt idx="5">
                  <c:v>0.25</c:v>
                </c:pt>
                <c:pt idx="6">
                  <c:v>0.30</c:v>
                </c:pt>
                <c:pt idx="7">
                  <c:v>0.35</c:v>
                </c:pt>
                <c:pt idx="8">
                  <c:v>0.40</c:v>
                </c:pt>
                <c:pt idx="9">
                  <c:v>0.45</c:v>
                </c:pt>
                <c:pt idx="10">
                  <c:v>0.50</c:v>
                </c:pt>
                <c:pt idx="11">
                  <c:v>0.55</c:v>
                </c:pt>
                <c:pt idx="12">
                  <c:v>0.60</c:v>
                </c:pt>
              </c:strCache>
            </c:strRef>
          </c:cat>
          <c:val>
            <c:numRef>
              <c:f>Sheet1!$C$2:$C$14</c:f>
              <c:numCache>
                <c:formatCode>General</c:formatCode>
                <c:ptCount val="13"/>
                <c:pt idx="0">
                  <c:v>0.54400000000000004</c:v>
                </c:pt>
                <c:pt idx="1">
                  <c:v>0.54400000000000004</c:v>
                </c:pt>
                <c:pt idx="2">
                  <c:v>0.54400000000000004</c:v>
                </c:pt>
                <c:pt idx="3">
                  <c:v>0.54500000000000004</c:v>
                </c:pt>
                <c:pt idx="4">
                  <c:v>0.55100000000000005</c:v>
                </c:pt>
                <c:pt idx="5">
                  <c:v>0.61099999999999999</c:v>
                </c:pt>
                <c:pt idx="6">
                  <c:v>0.65500000000000003</c:v>
                </c:pt>
                <c:pt idx="7">
                  <c:v>0.70199999999999996</c:v>
                </c:pt>
                <c:pt idx="8">
                  <c:v>0.73599999999999999</c:v>
                </c:pt>
                <c:pt idx="9">
                  <c:v>0.77700000000000002</c:v>
                </c:pt>
                <c:pt idx="10">
                  <c:v>0.78600000000000003</c:v>
                </c:pt>
                <c:pt idx="11">
                  <c:v>0.879</c:v>
                </c:pt>
                <c:pt idx="12">
                  <c:v>0.92600000000000005</c:v>
                </c:pt>
              </c:numCache>
            </c:numRef>
          </c:val>
          <c:smooth val="0"/>
          <c:extLst>
            <c:ext xmlns:c16="http://schemas.microsoft.com/office/drawing/2014/chart" uri="{C3380CC4-5D6E-409C-BE32-E72D297353CC}">
              <c16:uniqueId val="{00000001-B155-4613-9B89-A463E4696AF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25C75"/>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3DF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0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20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we build a classifier that places a song into one of 13 playlists, or suggests a new playlist. Baseline is the Stanford paper; we extend it. Both team members introduce themselves.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problem statement: given unfinished playlists and a set of unclassified songs, sort each song into the best playlist or suggest creating a new one. We implement both parts.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strength was 2,095 one-hot genre tags from the Spotify API. Our dataset has no per-track genre tags, so our baseline uses audio features only and scores much lower. That is a dataset difference, not a bug. We also keep scaling and feature selection inside CV pipelines.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Kaggle dataset loaded with kagglehub. We chose 13 distinct playlists, balanced them, removed duplicate track IDs (a song can sit in several playlists) and kept 52 per playlist. The genre columns are derived from the playlist, so using them would leak the label.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feature sets let us show what each addition buys. Scaling and feature selection are inside sklearn Pipelines, so they are re-fit inside every CV fold: no leakage. The test set is touched only for final reporting; the final model is chosen by CV.</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reproduce the paper's Table 1 structure: scaled vs unscaled. The paper's key message that scaling matters holds. Our absolute accuracy is lower because the paper had 2,095 one-hot genre tags and mood-based playlists; we only have audio features.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Hyperparameter tuning: GridSearchCV for the SVM (the scaler is also a tuned choice) and RandomizedSearchCV for the Random Forest, MLP and HistGB, all inside pipelines on the training split. Parameter tuning: the validation curve for C, and the abstain threshold later. All bars are 5-fold CV on the same split.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model chosen by repeated CV, not by the test set: Random Forest (tuned), feature set C. The test set has only 136 songs, so it is about plus or minus 4 points; CV is the more reliable comparison. The soft-voting ensemble did not beat the single Random Forest.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release year is by far the strongest feature (importance 0.27, next is 0.06). It is a legitimate metadata feature (the paper lists release date as missing data) but it works partly because these playlists are era-themed. Most errors are between near-duplicate playlists. The test set has about 10 songs per playlist, so single cells in the confusion matrix are noisy.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problem statement says assign the song or suggest a new playlist. If the top predicted probability is below the threshold, we recommend creating a new playlist. The threshold was tuned on out-of-fold predictions from the training split, then checked on the test set. The 2,422 unseen songs come from the same 13 playlists but were never in our 676-song dataset: this is our most reliable generalisation estimate.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app live: streamlit run app.py. Set sliders, click Suggest playlist. The two cards show real outputs from notebook section 16 on songs that were never in the training data: one confident and correct, one flagged as low confidence so the app suggests a new playlist. Backup: notebook section 16.</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in brackets are the notebook sections. Each of us should be ready to explain every section, but lead on our own parts during Q&amp;A.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replicated the paper's baselines, extended them, tuned them honestly with CV, and added a new-playlist rule and an app. Be ready for: why release_year matters so much; why we score below the paper (no genre tags); why Random Forest was chosen (repeated CV); how we avoided leakage (pipelines, train-only tuning).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10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868680"/>
            <a:ext cx="4937760" cy="19202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548640" y="2880360"/>
            <a:ext cx="4937760" cy="457200"/>
          </a:xfrm>
          <a:prstGeom prst="rect">
            <a:avLst/>
          </a:prstGeom>
          <a:noFill/>
          <a:ln/>
        </p:spPr>
        <p:txBody>
          <a:bodyPr wrap="square" rtlCol="0"/>
          <a:lstStyle>
            <a:lvl1pPr marL="0" indent="0" algn="l">
              <a:buNone/>
              <a:defRPr lang="en-US" sz="1800" dirty="0">
                <a:solidFill>
                  <a:schemeClr val="accent3"/>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548640" y="4754880"/>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Playlist Curator  |  UE24CS352A  |  Problem 26</a:t>
            </a:r>
            <a:endParaRPr lang="en-US" sz="10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B10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868680"/>
            <a:ext cx="4937760" cy="1920240"/>
          </a:xfrm>
          <a:prstGeom prst="rect">
            <a:avLst/>
          </a:prstGeom>
          <a:noFill/>
          <a:ln/>
        </p:spPr>
        <p:txBody>
          <a:bodyPr wrap="square" lIns="0" tIns="0" rIns="0" bIns="0" rtlCol="0" anchor="t"/>
          <a:lstStyle/>
          <a:p>
            <a:pPr marL="0" indent="0" algn="l">
              <a:buNone/>
            </a:pPr>
            <a:r>
              <a:rPr lang="en-US" sz="3600" b="1" dirty="0">
                <a:solidFill>
                  <a:schemeClr val="bg1"/>
                </a:solidFill>
              </a:rPr>
              <a:t>Training a Playlist Curator Based on User Taste</a:t>
            </a:r>
            <a:endParaRPr lang="en-US" sz="3600" dirty="0"/>
          </a:p>
        </p:txBody>
      </p:sp>
      <p:sp>
        <p:nvSpPr>
          <p:cNvPr id="3" name="Text 0"/>
          <p:cNvSpPr>
            <a:spLocks noGrp="1"/>
          </p:cNvSpPr>
          <p:nvPr>
            <p:ph type="body" idx="101" hasCustomPrompt="1"/>
          </p:nvPr>
        </p:nvSpPr>
        <p:spPr>
          <a:xfrm>
            <a:off x="548640" y="2880360"/>
            <a:ext cx="4937760" cy="457200"/>
          </a:xfrm>
          <a:prstGeom prst="rect">
            <a:avLst/>
          </a:prstGeom>
          <a:noFill/>
          <a:ln/>
        </p:spPr>
        <p:txBody>
          <a:bodyPr wrap="square" lIns="0" tIns="0" rIns="0" bIns="0" rtlCol="0" anchor="t"/>
          <a:lstStyle/>
          <a:p>
            <a:pPr marL="0" indent="0" algn="l">
              <a:buNone/>
            </a:pPr>
            <a:r>
              <a:rPr lang="en-US" sz="1800" dirty="0">
                <a:solidFill>
                  <a:schemeClr val="accent3"/>
                </a:solidFill>
              </a:rPr>
              <a:t>ML Mini-Project  |  UE24CS352A  |  Problem 26</a:t>
            </a:r>
            <a:endParaRPr lang="en-US" sz="1800" dirty="0"/>
          </a:p>
        </p:txBody>
      </p:sp>
      <p:sp>
        <p:nvSpPr>
          <p:cNvPr id="4" name="team"/>
          <p:cNvSpPr txBox="1"/>
          <p:nvPr/>
        </p:nvSpPr>
        <p:spPr>
          <a:xfrm>
            <a:off x="548640" y="3886200"/>
            <a:ext cx="4937760" cy="640080"/>
          </a:xfrm>
          <a:prstGeom prst="rect">
            <a:avLst/>
          </a:prstGeom>
          <a:noFill/>
          <a:ln/>
        </p:spPr>
        <p:txBody>
          <a:bodyPr wrap="square" lIns="0" tIns="0" rIns="0" bIns="0" rtlCol="0" anchor="t"/>
          <a:lstStyle/>
          <a:p>
            <a:pPr marL="0" indent="0">
              <a:buNone/>
            </a:pPr>
            <a:r>
              <a:rPr lang="en-US" sz="1600" dirty="0">
                <a:solidFill>
                  <a:schemeClr val="bg1"/>
                </a:solidFill>
              </a:rPr>
              <a:t>Rekha Dhorigol  PES1UG24CS370</a:t>
            </a:r>
            <a:endParaRPr lang="en-US" sz="1600" dirty="0"/>
          </a:p>
          <a:p>
            <a:pPr marL="0" indent="0">
              <a:buNone/>
            </a:pPr>
            <a:r>
              <a:rPr lang="en-US" sz="1600" dirty="0">
                <a:solidFill>
                  <a:schemeClr val="bg1"/>
                </a:solidFill>
              </a:rPr>
              <a:t>Sai Manogna B V  PES1UG24CS399</a:t>
            </a:r>
            <a:endParaRPr lang="en-US" sz="1600" dirty="0"/>
          </a:p>
        </p:txBody>
      </p:sp>
      <p:sp>
        <p:nvSpPr>
          <p:cNvPr id="5" name="vinyl_0"/>
          <p:cNvSpPr/>
          <p:nvPr/>
        </p:nvSpPr>
        <p:spPr>
          <a:xfrm>
            <a:off x="5715000" y="914400"/>
            <a:ext cx="3200400" cy="3200400"/>
          </a:xfrm>
          <a:prstGeom prst="ellipse">
            <a:avLst/>
          </a:prstGeom>
          <a:solidFill>
            <a:srgbClr val="3A2A63"/>
          </a:solidFill>
          <a:ln/>
        </p:spPr>
      </p:sp>
      <p:sp>
        <p:nvSpPr>
          <p:cNvPr id="6" name="vinyl_1"/>
          <p:cNvSpPr/>
          <p:nvPr/>
        </p:nvSpPr>
        <p:spPr>
          <a:xfrm>
            <a:off x="6035040" y="1234440"/>
            <a:ext cx="2560320" cy="2560320"/>
          </a:xfrm>
          <a:prstGeom prst="ellipse">
            <a:avLst/>
          </a:prstGeom>
          <a:ln w="12700">
            <a:solidFill>
              <a:srgbClr val="7A6FA8"/>
            </a:solidFill>
            <a:prstDash val="solid"/>
          </a:ln>
        </p:spPr>
      </p:sp>
      <p:sp>
        <p:nvSpPr>
          <p:cNvPr id="7" name="vinyl_2"/>
          <p:cNvSpPr/>
          <p:nvPr/>
        </p:nvSpPr>
        <p:spPr>
          <a:xfrm>
            <a:off x="6355080" y="1554480"/>
            <a:ext cx="1920240" cy="1920240"/>
          </a:xfrm>
          <a:prstGeom prst="ellipse">
            <a:avLst/>
          </a:prstGeom>
          <a:ln w="12700">
            <a:solidFill>
              <a:srgbClr val="7A6FA8"/>
            </a:solidFill>
            <a:prstDash val="solid"/>
          </a:ln>
        </p:spPr>
      </p:sp>
      <p:sp>
        <p:nvSpPr>
          <p:cNvPr id="8" name="vinyl_3"/>
          <p:cNvSpPr/>
          <p:nvPr/>
        </p:nvSpPr>
        <p:spPr>
          <a:xfrm>
            <a:off x="6675120" y="1874520"/>
            <a:ext cx="1280160" cy="1280160"/>
          </a:xfrm>
          <a:prstGeom prst="ellipse">
            <a:avLst/>
          </a:prstGeom>
          <a:solidFill>
            <a:srgbClr val="E0457B"/>
          </a:solidFill>
          <a:ln/>
        </p:spPr>
      </p:sp>
      <p:sp>
        <p:nvSpPr>
          <p:cNvPr id="9" name="vinyl_hole"/>
          <p:cNvSpPr/>
          <p:nvPr/>
        </p:nvSpPr>
        <p:spPr>
          <a:xfrm>
            <a:off x="7223760" y="2423160"/>
            <a:ext cx="182880" cy="182880"/>
          </a:xfrm>
          <a:prstGeom prst="ellipse">
            <a:avLst/>
          </a:prstGeom>
          <a:solidFill>
            <a:srgbClr val="1B103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From one song to the right playlist</a:t>
            </a:r>
            <a:endParaRPr lang="en-US" sz="3000" dirty="0"/>
          </a:p>
        </p:txBody>
      </p:sp>
      <p:sp>
        <p:nvSpPr>
          <p:cNvPr id="3" name="card_Input"/>
          <p:cNvSpPr/>
          <p:nvPr/>
        </p:nvSpPr>
        <p:spPr>
          <a:xfrm>
            <a:off x="548640" y="1280160"/>
            <a:ext cx="2468880" cy="2423160"/>
          </a:xfrm>
          <a:prstGeom prst="roundRect">
            <a:avLst>
              <a:gd name="adj" fmla="val 4528"/>
            </a:avLst>
          </a:prstGeom>
          <a:solidFill>
            <a:schemeClr val="bg2"/>
          </a:solidFill>
          <a:ln/>
        </p:spPr>
      </p:sp>
      <p:sp>
        <p:nvSpPr>
          <p:cNvPr id="4" name="num_Input"/>
          <p:cNvSpPr/>
          <p:nvPr/>
        </p:nvSpPr>
        <p:spPr>
          <a:xfrm>
            <a:off x="777240" y="1508760"/>
            <a:ext cx="502920" cy="502920"/>
          </a:xfrm>
          <a:prstGeom prst="ellipse">
            <a:avLst/>
          </a:prstGeom>
          <a:solidFill>
            <a:schemeClr val="accent1"/>
          </a:solidFill>
          <a:ln/>
        </p:spPr>
      </p:sp>
      <p:sp>
        <p:nvSpPr>
          <p:cNvPr id="5" name="num_Input_label"/>
          <p:cNvSpPr txBox="1"/>
          <p:nvPr/>
        </p:nvSpPr>
        <p:spPr>
          <a:xfrm>
            <a:off x="777240" y="15087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1</a:t>
            </a:r>
            <a:endParaRPr lang="en-US" sz="1700" dirty="0"/>
          </a:p>
        </p:txBody>
      </p:sp>
      <p:sp>
        <p:nvSpPr>
          <p:cNvPr id="6" name="h_Input"/>
          <p:cNvSpPr txBox="1"/>
          <p:nvPr/>
        </p:nvSpPr>
        <p:spPr>
          <a:xfrm>
            <a:off x="777240" y="2194560"/>
            <a:ext cx="2011680" cy="3657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Input</a:t>
            </a:r>
            <a:endParaRPr lang="en-US" sz="2000" dirty="0"/>
          </a:p>
        </p:txBody>
      </p:sp>
      <p:sp>
        <p:nvSpPr>
          <p:cNvPr id="7" name="b_Input"/>
          <p:cNvSpPr txBox="1"/>
          <p:nvPr/>
        </p:nvSpPr>
        <p:spPr>
          <a:xfrm>
            <a:off x="777240" y="2606040"/>
            <a:ext cx="2011680" cy="1005840"/>
          </a:xfrm>
          <a:prstGeom prst="rect">
            <a:avLst/>
          </a:prstGeom>
          <a:noFill/>
          <a:ln/>
        </p:spPr>
        <p:txBody>
          <a:bodyPr wrap="square" lIns="0" tIns="0" rIns="0" bIns="0" rtlCol="0" anchor="t"/>
          <a:lstStyle/>
          <a:p>
            <a:pPr marL="0" indent="0">
              <a:buNone/>
            </a:pPr>
            <a:r>
              <a:rPr lang="en-US" sz="1400" dirty="0">
                <a:solidFill>
                  <a:schemeClr val="tx1"/>
                </a:solidFill>
              </a:rPr>
              <a:t>A song's audio features and metadata (e.g. danceability, energy, tempo, release year)</a:t>
            </a:r>
            <a:endParaRPr lang="en-US" sz="1400" dirty="0"/>
          </a:p>
        </p:txBody>
      </p:sp>
      <p:sp>
        <p:nvSpPr>
          <p:cNvPr id="8" name="arrow_0"/>
          <p:cNvSpPr/>
          <p:nvPr/>
        </p:nvSpPr>
        <p:spPr>
          <a:xfrm>
            <a:off x="3035808" y="2331720"/>
            <a:ext cx="283464" cy="292608"/>
          </a:xfrm>
          <a:prstGeom prst="rightArrow">
            <a:avLst/>
          </a:prstGeom>
          <a:solidFill>
            <a:srgbClr val="7A6FA8"/>
          </a:solidFill>
          <a:ln/>
        </p:spPr>
      </p:sp>
      <p:sp>
        <p:nvSpPr>
          <p:cNvPr id="9" name="card_Model"/>
          <p:cNvSpPr/>
          <p:nvPr/>
        </p:nvSpPr>
        <p:spPr>
          <a:xfrm>
            <a:off x="3337560" y="1280160"/>
            <a:ext cx="2468880" cy="2423160"/>
          </a:xfrm>
          <a:prstGeom prst="roundRect">
            <a:avLst>
              <a:gd name="adj" fmla="val 4528"/>
            </a:avLst>
          </a:prstGeom>
          <a:solidFill>
            <a:schemeClr val="bg2"/>
          </a:solidFill>
          <a:ln/>
        </p:spPr>
      </p:sp>
      <p:sp>
        <p:nvSpPr>
          <p:cNvPr id="10" name="num_Model"/>
          <p:cNvSpPr/>
          <p:nvPr/>
        </p:nvSpPr>
        <p:spPr>
          <a:xfrm>
            <a:off x="3566160" y="1508760"/>
            <a:ext cx="502920" cy="502920"/>
          </a:xfrm>
          <a:prstGeom prst="ellipse">
            <a:avLst/>
          </a:prstGeom>
          <a:solidFill>
            <a:schemeClr val="accent1"/>
          </a:solidFill>
          <a:ln/>
        </p:spPr>
      </p:sp>
      <p:sp>
        <p:nvSpPr>
          <p:cNvPr id="11" name="num_Model_label"/>
          <p:cNvSpPr txBox="1"/>
          <p:nvPr/>
        </p:nvSpPr>
        <p:spPr>
          <a:xfrm>
            <a:off x="3566160" y="15087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2</a:t>
            </a:r>
            <a:endParaRPr lang="en-US" sz="1700" dirty="0"/>
          </a:p>
        </p:txBody>
      </p:sp>
      <p:sp>
        <p:nvSpPr>
          <p:cNvPr id="12" name="h_Model"/>
          <p:cNvSpPr txBox="1"/>
          <p:nvPr/>
        </p:nvSpPr>
        <p:spPr>
          <a:xfrm>
            <a:off x="3566160" y="2194560"/>
            <a:ext cx="2011680" cy="3657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Model</a:t>
            </a:r>
            <a:endParaRPr lang="en-US" sz="2000" dirty="0"/>
          </a:p>
        </p:txBody>
      </p:sp>
      <p:sp>
        <p:nvSpPr>
          <p:cNvPr id="13" name="b_Model"/>
          <p:cNvSpPr txBox="1"/>
          <p:nvPr/>
        </p:nvSpPr>
        <p:spPr>
          <a:xfrm>
            <a:off x="3566160" y="2606040"/>
            <a:ext cx="2011680" cy="1005840"/>
          </a:xfrm>
          <a:prstGeom prst="rect">
            <a:avLst/>
          </a:prstGeom>
          <a:noFill/>
          <a:ln/>
        </p:spPr>
        <p:txBody>
          <a:bodyPr wrap="square" lIns="0" tIns="0" rIns="0" bIns="0" rtlCol="0" anchor="t"/>
          <a:lstStyle/>
          <a:p>
            <a:pPr marL="0" indent="0">
              <a:buNone/>
            </a:pPr>
            <a:r>
              <a:rPr lang="en-US" sz="1400" dirty="0">
                <a:solidFill>
                  <a:schemeClr val="tx1"/>
                </a:solidFill>
              </a:rPr>
              <a:t>A classifier trained on 13 playlists (676 songs)</a:t>
            </a:r>
            <a:endParaRPr lang="en-US" sz="1400" dirty="0"/>
          </a:p>
        </p:txBody>
      </p:sp>
      <p:sp>
        <p:nvSpPr>
          <p:cNvPr id="14" name="arrow_1"/>
          <p:cNvSpPr/>
          <p:nvPr/>
        </p:nvSpPr>
        <p:spPr>
          <a:xfrm>
            <a:off x="5824728" y="2331720"/>
            <a:ext cx="283464" cy="292608"/>
          </a:xfrm>
          <a:prstGeom prst="rightArrow">
            <a:avLst/>
          </a:prstGeom>
          <a:solidFill>
            <a:srgbClr val="7A6FA8"/>
          </a:solidFill>
          <a:ln/>
        </p:spPr>
      </p:sp>
      <p:sp>
        <p:nvSpPr>
          <p:cNvPr id="15" name="card_Output"/>
          <p:cNvSpPr/>
          <p:nvPr/>
        </p:nvSpPr>
        <p:spPr>
          <a:xfrm>
            <a:off x="6126480" y="1280160"/>
            <a:ext cx="2468880" cy="2423160"/>
          </a:xfrm>
          <a:prstGeom prst="roundRect">
            <a:avLst>
              <a:gd name="adj" fmla="val 4528"/>
            </a:avLst>
          </a:prstGeom>
          <a:solidFill>
            <a:schemeClr val="bg2"/>
          </a:solidFill>
          <a:ln/>
        </p:spPr>
      </p:sp>
      <p:sp>
        <p:nvSpPr>
          <p:cNvPr id="16" name="num_Output"/>
          <p:cNvSpPr/>
          <p:nvPr/>
        </p:nvSpPr>
        <p:spPr>
          <a:xfrm>
            <a:off x="6355080" y="1508760"/>
            <a:ext cx="502920" cy="502920"/>
          </a:xfrm>
          <a:prstGeom prst="ellipse">
            <a:avLst/>
          </a:prstGeom>
          <a:solidFill>
            <a:schemeClr val="accent2"/>
          </a:solidFill>
          <a:ln/>
        </p:spPr>
      </p:sp>
      <p:sp>
        <p:nvSpPr>
          <p:cNvPr id="17" name="num_Output_label"/>
          <p:cNvSpPr txBox="1"/>
          <p:nvPr/>
        </p:nvSpPr>
        <p:spPr>
          <a:xfrm>
            <a:off x="6355080" y="15087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3</a:t>
            </a:r>
            <a:endParaRPr lang="en-US" sz="1700" dirty="0"/>
          </a:p>
        </p:txBody>
      </p:sp>
      <p:sp>
        <p:nvSpPr>
          <p:cNvPr id="18" name="h_Output"/>
          <p:cNvSpPr txBox="1"/>
          <p:nvPr/>
        </p:nvSpPr>
        <p:spPr>
          <a:xfrm>
            <a:off x="6355080" y="2194560"/>
            <a:ext cx="2011680" cy="3657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Output</a:t>
            </a:r>
            <a:endParaRPr lang="en-US" sz="2000" dirty="0"/>
          </a:p>
        </p:txBody>
      </p:sp>
      <p:sp>
        <p:nvSpPr>
          <p:cNvPr id="19" name="b_Output"/>
          <p:cNvSpPr txBox="1"/>
          <p:nvPr/>
        </p:nvSpPr>
        <p:spPr>
          <a:xfrm>
            <a:off x="6355080" y="2606040"/>
            <a:ext cx="2011680" cy="1005840"/>
          </a:xfrm>
          <a:prstGeom prst="rect">
            <a:avLst/>
          </a:prstGeom>
          <a:noFill/>
          <a:ln/>
        </p:spPr>
        <p:txBody>
          <a:bodyPr wrap="square" lIns="0" tIns="0" rIns="0" bIns="0" rtlCol="0" anchor="t"/>
          <a:lstStyle/>
          <a:p>
            <a:pPr marL="0" indent="0">
              <a:buNone/>
            </a:pPr>
            <a:r>
              <a:rPr lang="en-US" sz="1400" dirty="0">
                <a:solidFill>
                  <a:schemeClr val="tx1"/>
                </a:solidFill>
              </a:rPr>
              <a:t>Top-3 playlists with probabilities, or "create a new playlist"</a:t>
            </a:r>
            <a:endParaRPr lang="en-US" sz="1400" dirty="0"/>
          </a:p>
        </p:txBody>
      </p:sp>
      <p:sp>
        <p:nvSpPr>
          <p:cNvPr id="20" name="baseline_strip"/>
          <p:cNvSpPr/>
          <p:nvPr/>
        </p:nvSpPr>
        <p:spPr>
          <a:xfrm>
            <a:off x="548640" y="3931920"/>
            <a:ext cx="8046720" cy="640080"/>
          </a:xfrm>
          <a:prstGeom prst="roundRect">
            <a:avLst>
              <a:gd name="adj" fmla="val 17143"/>
            </a:avLst>
          </a:prstGeom>
          <a:solidFill>
            <a:srgbClr val="1B1033"/>
          </a:solidFill>
          <a:ln/>
        </p:spPr>
      </p:sp>
      <p:sp>
        <p:nvSpPr>
          <p:cNvPr id="21" name="baseline_text"/>
          <p:cNvSpPr txBox="1"/>
          <p:nvPr/>
        </p:nvSpPr>
        <p:spPr>
          <a:xfrm>
            <a:off x="777240" y="3931920"/>
            <a:ext cx="7589520" cy="640080"/>
          </a:xfrm>
          <a:prstGeom prst="rect">
            <a:avLst/>
          </a:prstGeom>
          <a:noFill/>
          <a:ln/>
        </p:spPr>
        <p:txBody>
          <a:bodyPr wrap="square" lIns="0" tIns="0" rIns="0" bIns="0" rtlCol="0" anchor="ctr"/>
          <a:lstStyle/>
          <a:p>
            <a:pPr marL="0" indent="0">
              <a:buNone/>
            </a:pPr>
            <a:r>
              <a:rPr lang="en-US" sz="1600" dirty="0">
                <a:solidFill>
                  <a:schemeClr val="bg1"/>
                </a:solidFill>
              </a:rPr>
              <a:t>Baseline: Awadelkarim &amp; Coelho, Stanford (2018). We re-implement it, then extend it.</a:t>
            </a:r>
            <a:endParaRPr lang="en-US" sz="16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Paper baseline vs our changes</a:t>
            </a:r>
            <a:endParaRPr lang="en-US" sz="3000" dirty="0"/>
          </a:p>
        </p:txBody>
      </p:sp>
      <p:sp>
        <p:nvSpPr>
          <p:cNvPr id="3" name="col_0"/>
          <p:cNvSpPr/>
          <p:nvPr/>
        </p:nvSpPr>
        <p:spPr>
          <a:xfrm>
            <a:off x="548640" y="1280160"/>
            <a:ext cx="3931920" cy="3017520"/>
          </a:xfrm>
          <a:prstGeom prst="roundRect">
            <a:avLst>
              <a:gd name="adj" fmla="val 3636"/>
            </a:avLst>
          </a:prstGeom>
          <a:solidFill>
            <a:schemeClr val="bg2"/>
          </a:solidFill>
          <a:ln/>
        </p:spPr>
      </p:sp>
      <p:sp>
        <p:nvSpPr>
          <p:cNvPr id="4" name="colnum_0"/>
          <p:cNvSpPr/>
          <p:nvPr/>
        </p:nvSpPr>
        <p:spPr>
          <a:xfrm>
            <a:off x="777240" y="1481328"/>
            <a:ext cx="457200" cy="457200"/>
          </a:xfrm>
          <a:prstGeom prst="ellipse">
            <a:avLst/>
          </a:prstGeom>
          <a:solidFill>
            <a:schemeClr val="accent4"/>
          </a:solidFill>
          <a:ln/>
        </p:spPr>
      </p:sp>
      <p:sp>
        <p:nvSpPr>
          <p:cNvPr id="5" name="colh_0"/>
          <p:cNvSpPr txBox="1"/>
          <p:nvPr/>
        </p:nvSpPr>
        <p:spPr>
          <a:xfrm>
            <a:off x="1417320" y="1481328"/>
            <a:ext cx="2926080" cy="45720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Stanford paper (2018)</a:t>
            </a:r>
            <a:endParaRPr lang="en-US" sz="2000" dirty="0"/>
          </a:p>
        </p:txBody>
      </p:sp>
      <p:sp>
        <p:nvSpPr>
          <p:cNvPr id="6" name="colb_0"/>
          <p:cNvSpPr txBox="1"/>
          <p:nvPr/>
        </p:nvSpPr>
        <p:spPr>
          <a:xfrm>
            <a:off x="822960" y="2194560"/>
            <a:ext cx="34290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Spotify API data: 10 audio features + 2,095 genre tags</a:t>
            </a:r>
            <a:endParaRPr lang="en-US" sz="1400" dirty="0"/>
          </a:p>
          <a:p>
            <a:pPr marL="342900" indent="-342900">
              <a:spcAft>
                <a:spcPts val="600"/>
              </a:spcAft>
              <a:buSzPct val="100000"/>
              <a:buChar char="•"/>
            </a:pPr>
            <a:r>
              <a:rPr lang="en-US" sz="1400" dirty="0">
                <a:solidFill>
                  <a:schemeClr val="tx1"/>
                </a:solidFill>
              </a:rPr>
              <a:t>13 curated playlists, 1,044 tracks</a:t>
            </a:r>
            <a:endParaRPr lang="en-US" sz="1400" dirty="0"/>
          </a:p>
          <a:p>
            <a:pPr marL="342900" indent="-342900">
              <a:spcAft>
                <a:spcPts val="600"/>
              </a:spcAft>
              <a:buSzPct val="100000"/>
              <a:buChar char="•"/>
            </a:pPr>
            <a:r>
              <a:rPr lang="en-US" sz="1400" dirty="0">
                <a:solidFill>
                  <a:schemeClr val="tx1"/>
                </a:solidFill>
              </a:rPr>
              <a:t>Perceptron, SVMs, 1-hidden-layer NN</a:t>
            </a:r>
            <a:endParaRPr lang="en-US" sz="1400" dirty="0"/>
          </a:p>
          <a:p>
            <a:pPr marL="342900" indent="-342900">
              <a:spcAft>
                <a:spcPts val="600"/>
              </a:spcAft>
              <a:buSzPct val="100000"/>
              <a:buChar char="•"/>
            </a:pPr>
            <a:r>
              <a:rPr lang="en-US" sz="1400" dirty="0">
                <a:solidFill>
                  <a:schemeClr val="tx1"/>
                </a:solidFill>
              </a:rPr>
              <a:t>Best: NN 82% test, RBF SVM 80%</a:t>
            </a:r>
            <a:endParaRPr lang="en-US" sz="1400" dirty="0"/>
          </a:p>
        </p:txBody>
      </p:sp>
      <p:sp>
        <p:nvSpPr>
          <p:cNvPr id="7" name="col_1"/>
          <p:cNvSpPr/>
          <p:nvPr/>
        </p:nvSpPr>
        <p:spPr>
          <a:xfrm>
            <a:off x="4663440" y="1280160"/>
            <a:ext cx="3931920" cy="3017520"/>
          </a:xfrm>
          <a:prstGeom prst="roundRect">
            <a:avLst>
              <a:gd name="adj" fmla="val 3636"/>
            </a:avLst>
          </a:prstGeom>
          <a:solidFill>
            <a:schemeClr val="bg2"/>
          </a:solidFill>
          <a:ln/>
        </p:spPr>
      </p:sp>
      <p:sp>
        <p:nvSpPr>
          <p:cNvPr id="8" name="colnum_1"/>
          <p:cNvSpPr/>
          <p:nvPr/>
        </p:nvSpPr>
        <p:spPr>
          <a:xfrm>
            <a:off x="4892040" y="1481328"/>
            <a:ext cx="457200" cy="457200"/>
          </a:xfrm>
          <a:prstGeom prst="ellipse">
            <a:avLst/>
          </a:prstGeom>
          <a:solidFill>
            <a:schemeClr val="accent1"/>
          </a:solidFill>
          <a:ln/>
        </p:spPr>
      </p:sp>
      <p:sp>
        <p:nvSpPr>
          <p:cNvPr id="9" name="colh_1"/>
          <p:cNvSpPr txBox="1"/>
          <p:nvPr/>
        </p:nvSpPr>
        <p:spPr>
          <a:xfrm>
            <a:off x="5532120" y="1481328"/>
            <a:ext cx="2926080" cy="45720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Our project</a:t>
            </a:r>
            <a:endParaRPr lang="en-US" sz="2000" dirty="0"/>
          </a:p>
        </p:txBody>
      </p:sp>
      <p:sp>
        <p:nvSpPr>
          <p:cNvPr id="10" name="colb_1"/>
          <p:cNvSpPr txBox="1"/>
          <p:nvPr/>
        </p:nvSpPr>
        <p:spPr>
          <a:xfrm>
            <a:off x="4937760" y="2194560"/>
            <a:ext cx="34290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Kaggle "30,000 Spotify Songs": audio + metadata, no genre tags</a:t>
            </a:r>
            <a:endParaRPr lang="en-US" sz="1400" dirty="0"/>
          </a:p>
          <a:p>
            <a:pPr marL="342900" indent="-342900">
              <a:spcAft>
                <a:spcPts val="600"/>
              </a:spcAft>
              <a:buSzPct val="100000"/>
              <a:buChar char="•"/>
            </a:pPr>
            <a:r>
              <a:rPr lang="en-US" sz="1400" dirty="0">
                <a:solidFill>
                  <a:schemeClr val="tx1"/>
                </a:solidFill>
              </a:rPr>
              <a:t>Same baselines, re-implemented in CV pipelines</a:t>
            </a:r>
            <a:endParaRPr lang="en-US" sz="1400" dirty="0"/>
          </a:p>
          <a:p>
            <a:pPr marL="342900" indent="-342900">
              <a:spcAft>
                <a:spcPts val="600"/>
              </a:spcAft>
              <a:buSzPct val="100000"/>
              <a:buChar char="•"/>
            </a:pPr>
            <a:r>
              <a:rPr lang="en-US" sz="1400" dirty="0">
                <a:solidFill>
                  <a:schemeClr val="tx1"/>
                </a:solidFill>
              </a:rPr>
              <a:t>Plus new features, models, tuning, feature selection</a:t>
            </a:r>
            <a:endParaRPr lang="en-US" sz="1400" dirty="0"/>
          </a:p>
          <a:p>
            <a:pPr marL="342900" indent="-342900">
              <a:spcAft>
                <a:spcPts val="600"/>
              </a:spcAft>
              <a:buSzPct val="100000"/>
              <a:buChar char="•"/>
            </a:pPr>
            <a:r>
              <a:rPr lang="en-US" sz="1400" dirty="0">
                <a:solidFill>
                  <a:schemeClr val="tx1"/>
                </a:solidFill>
              </a:rPr>
              <a:t>Plus a "new playlist" rule and a Streamlit app</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Dataset: from 32,833 songs to 676</a:t>
            </a:r>
            <a:endParaRPr lang="en-US" sz="3000" dirty="0"/>
          </a:p>
        </p:txBody>
      </p:sp>
      <p:sp>
        <p:nvSpPr>
          <p:cNvPr id="3" name="funnel_0"/>
          <p:cNvSpPr/>
          <p:nvPr/>
        </p:nvSpPr>
        <p:spPr>
          <a:xfrm>
            <a:off x="548640" y="1280160"/>
            <a:ext cx="1481328" cy="1965960"/>
          </a:xfrm>
          <a:prstGeom prst="roundRect">
            <a:avLst>
              <a:gd name="adj" fmla="val 7407"/>
            </a:avLst>
          </a:prstGeom>
          <a:solidFill>
            <a:schemeClr val="bg2"/>
          </a:solidFill>
          <a:ln/>
        </p:spPr>
      </p:sp>
      <p:sp>
        <p:nvSpPr>
          <p:cNvPr id="4" name="fn_0"/>
          <p:cNvSpPr txBox="1"/>
          <p:nvPr/>
        </p:nvSpPr>
        <p:spPr>
          <a:xfrm>
            <a:off x="658368" y="1463040"/>
            <a:ext cx="128016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32,833</a:t>
            </a:r>
            <a:endParaRPr lang="en-US" sz="2800" dirty="0"/>
          </a:p>
        </p:txBody>
      </p:sp>
      <p:sp>
        <p:nvSpPr>
          <p:cNvPr id="5" name="fl_0"/>
          <p:cNvSpPr txBox="1"/>
          <p:nvPr/>
        </p:nvSpPr>
        <p:spPr>
          <a:xfrm>
            <a:off x="658368" y="2103120"/>
            <a:ext cx="1280160" cy="1005840"/>
          </a:xfrm>
          <a:prstGeom prst="rect">
            <a:avLst/>
          </a:prstGeom>
          <a:noFill/>
          <a:ln/>
        </p:spPr>
        <p:txBody>
          <a:bodyPr wrap="square" lIns="0" tIns="0" rIns="0" bIns="0" rtlCol="0" anchor="t"/>
          <a:lstStyle/>
          <a:p>
            <a:pPr marL="0" indent="0">
              <a:buNone/>
            </a:pPr>
            <a:r>
              <a:rPr lang="en-US" sz="1400" dirty="0">
                <a:solidFill>
                  <a:schemeClr val="tx1"/>
                </a:solidFill>
              </a:rPr>
              <a:t>tracks in 449 playlists</a:t>
            </a:r>
            <a:endParaRPr lang="en-US" sz="1400" dirty="0"/>
          </a:p>
        </p:txBody>
      </p:sp>
      <p:sp>
        <p:nvSpPr>
          <p:cNvPr id="6" name="funnel_1"/>
          <p:cNvSpPr/>
          <p:nvPr/>
        </p:nvSpPr>
        <p:spPr>
          <a:xfrm>
            <a:off x="2189988" y="1280160"/>
            <a:ext cx="1481328" cy="1965960"/>
          </a:xfrm>
          <a:prstGeom prst="roundRect">
            <a:avLst>
              <a:gd name="adj" fmla="val 7407"/>
            </a:avLst>
          </a:prstGeom>
          <a:solidFill>
            <a:schemeClr val="bg2"/>
          </a:solidFill>
          <a:ln/>
        </p:spPr>
      </p:sp>
      <p:sp>
        <p:nvSpPr>
          <p:cNvPr id="7" name="fn_1"/>
          <p:cNvSpPr txBox="1"/>
          <p:nvPr/>
        </p:nvSpPr>
        <p:spPr>
          <a:xfrm>
            <a:off x="2299716" y="1463040"/>
            <a:ext cx="128016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3,690</a:t>
            </a:r>
            <a:endParaRPr lang="en-US" sz="2800" dirty="0"/>
          </a:p>
        </p:txBody>
      </p:sp>
      <p:sp>
        <p:nvSpPr>
          <p:cNvPr id="8" name="fl_1"/>
          <p:cNvSpPr txBox="1"/>
          <p:nvPr/>
        </p:nvSpPr>
        <p:spPr>
          <a:xfrm>
            <a:off x="2299716" y="2103120"/>
            <a:ext cx="1280160" cy="1005840"/>
          </a:xfrm>
          <a:prstGeom prst="rect">
            <a:avLst/>
          </a:prstGeom>
          <a:noFill/>
          <a:ln/>
        </p:spPr>
        <p:txBody>
          <a:bodyPr wrap="square" lIns="0" tIns="0" rIns="0" bIns="0" rtlCol="0" anchor="t"/>
          <a:lstStyle/>
          <a:p>
            <a:pPr marL="0" indent="0">
              <a:buNone/>
            </a:pPr>
            <a:r>
              <a:rPr lang="en-US" sz="1400" dirty="0">
                <a:solidFill>
                  <a:schemeClr val="tx1"/>
                </a:solidFill>
              </a:rPr>
              <a:t>tracks in our 13 playlists</a:t>
            </a:r>
            <a:endParaRPr lang="en-US" sz="1400" dirty="0"/>
          </a:p>
        </p:txBody>
      </p:sp>
      <p:sp>
        <p:nvSpPr>
          <p:cNvPr id="9" name="funnel_2"/>
          <p:cNvSpPr/>
          <p:nvPr/>
        </p:nvSpPr>
        <p:spPr>
          <a:xfrm>
            <a:off x="3831336" y="1280160"/>
            <a:ext cx="1481328" cy="1965960"/>
          </a:xfrm>
          <a:prstGeom prst="roundRect">
            <a:avLst>
              <a:gd name="adj" fmla="val 7407"/>
            </a:avLst>
          </a:prstGeom>
          <a:solidFill>
            <a:schemeClr val="bg2"/>
          </a:solidFill>
          <a:ln/>
        </p:spPr>
      </p:sp>
      <p:sp>
        <p:nvSpPr>
          <p:cNvPr id="10" name="fn_2"/>
          <p:cNvSpPr txBox="1"/>
          <p:nvPr/>
        </p:nvSpPr>
        <p:spPr>
          <a:xfrm>
            <a:off x="3941064" y="1463040"/>
            <a:ext cx="128016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1,040</a:t>
            </a:r>
            <a:endParaRPr lang="en-US" sz="2800" dirty="0"/>
          </a:p>
        </p:txBody>
      </p:sp>
      <p:sp>
        <p:nvSpPr>
          <p:cNvPr id="11" name="fl_2"/>
          <p:cNvSpPr txBox="1"/>
          <p:nvPr/>
        </p:nvSpPr>
        <p:spPr>
          <a:xfrm>
            <a:off x="3941064" y="2103120"/>
            <a:ext cx="1280160" cy="1005840"/>
          </a:xfrm>
          <a:prstGeom prst="rect">
            <a:avLst/>
          </a:prstGeom>
          <a:noFill/>
          <a:ln/>
        </p:spPr>
        <p:txBody>
          <a:bodyPr wrap="square" lIns="0" tIns="0" rIns="0" bIns="0" rtlCol="0" anchor="t"/>
          <a:lstStyle/>
          <a:p>
            <a:pPr marL="0" indent="0">
              <a:buNone/>
            </a:pPr>
            <a:r>
              <a:rPr lang="en-US" sz="1400" dirty="0">
                <a:solidFill>
                  <a:schemeClr val="tx1"/>
                </a:solidFill>
              </a:rPr>
              <a:t>balanced: 80 per playlist</a:t>
            </a:r>
            <a:endParaRPr lang="en-US" sz="1400" dirty="0"/>
          </a:p>
        </p:txBody>
      </p:sp>
      <p:sp>
        <p:nvSpPr>
          <p:cNvPr id="12" name="funnel_3"/>
          <p:cNvSpPr/>
          <p:nvPr/>
        </p:nvSpPr>
        <p:spPr>
          <a:xfrm>
            <a:off x="5472684" y="1280160"/>
            <a:ext cx="1481328" cy="1965960"/>
          </a:xfrm>
          <a:prstGeom prst="roundRect">
            <a:avLst>
              <a:gd name="adj" fmla="val 7407"/>
            </a:avLst>
          </a:prstGeom>
          <a:solidFill>
            <a:schemeClr val="bg2"/>
          </a:solidFill>
          <a:ln/>
        </p:spPr>
      </p:sp>
      <p:sp>
        <p:nvSpPr>
          <p:cNvPr id="13" name="fn_3"/>
          <p:cNvSpPr txBox="1"/>
          <p:nvPr/>
        </p:nvSpPr>
        <p:spPr>
          <a:xfrm>
            <a:off x="5582412" y="1463040"/>
            <a:ext cx="128016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944</a:t>
            </a:r>
            <a:endParaRPr lang="en-US" sz="2800" dirty="0"/>
          </a:p>
        </p:txBody>
      </p:sp>
      <p:sp>
        <p:nvSpPr>
          <p:cNvPr id="14" name="fl_3"/>
          <p:cNvSpPr txBox="1"/>
          <p:nvPr/>
        </p:nvSpPr>
        <p:spPr>
          <a:xfrm>
            <a:off x="5582412" y="2103120"/>
            <a:ext cx="1280160" cy="1005840"/>
          </a:xfrm>
          <a:prstGeom prst="rect">
            <a:avLst/>
          </a:prstGeom>
          <a:noFill/>
          <a:ln/>
        </p:spPr>
        <p:txBody>
          <a:bodyPr wrap="square" lIns="0" tIns="0" rIns="0" bIns="0" rtlCol="0" anchor="t"/>
          <a:lstStyle/>
          <a:p>
            <a:pPr marL="0" indent="0">
              <a:buNone/>
            </a:pPr>
            <a:r>
              <a:rPr lang="en-US" sz="1400" dirty="0">
                <a:solidFill>
                  <a:schemeClr val="tx1"/>
                </a:solidFill>
              </a:rPr>
              <a:t>unique tracks after removing duplicates</a:t>
            </a:r>
            <a:endParaRPr lang="en-US" sz="1400" dirty="0"/>
          </a:p>
        </p:txBody>
      </p:sp>
      <p:sp>
        <p:nvSpPr>
          <p:cNvPr id="15" name="funnel_4"/>
          <p:cNvSpPr/>
          <p:nvPr/>
        </p:nvSpPr>
        <p:spPr>
          <a:xfrm>
            <a:off x="7114032" y="1280160"/>
            <a:ext cx="1481328" cy="1965960"/>
          </a:xfrm>
          <a:prstGeom prst="roundRect">
            <a:avLst>
              <a:gd name="adj" fmla="val 7407"/>
            </a:avLst>
          </a:prstGeom>
          <a:solidFill>
            <a:srgbClr val="1B1033"/>
          </a:solidFill>
          <a:ln/>
        </p:spPr>
      </p:sp>
      <p:sp>
        <p:nvSpPr>
          <p:cNvPr id="16" name="fn_4"/>
          <p:cNvSpPr txBox="1"/>
          <p:nvPr/>
        </p:nvSpPr>
        <p:spPr>
          <a:xfrm>
            <a:off x="7223760" y="1463040"/>
            <a:ext cx="1280160" cy="548640"/>
          </a:xfrm>
          <a:prstGeom prst="rect">
            <a:avLst/>
          </a:prstGeom>
          <a:noFill/>
          <a:ln/>
        </p:spPr>
        <p:txBody>
          <a:bodyPr wrap="square" lIns="0" tIns="0" rIns="0" bIns="0" rtlCol="0" anchor="t"/>
          <a:lstStyle/>
          <a:p>
            <a:pPr marL="0" indent="0">
              <a:buNone/>
            </a:pPr>
            <a:r>
              <a:rPr lang="en-US" sz="2800" b="1" dirty="0">
                <a:solidFill>
                  <a:schemeClr val="accent3"/>
                </a:solidFill>
                <a:latin typeface="Cambria" pitchFamily="34" charset="0"/>
                <a:ea typeface="Cambria" pitchFamily="34" charset="-122"/>
                <a:cs typeface="Cambria" pitchFamily="34" charset="-120"/>
              </a:rPr>
              <a:t>676</a:t>
            </a:r>
            <a:endParaRPr lang="en-US" sz="2800" dirty="0"/>
          </a:p>
        </p:txBody>
      </p:sp>
      <p:sp>
        <p:nvSpPr>
          <p:cNvPr id="17" name="fl_4"/>
          <p:cNvSpPr txBox="1"/>
          <p:nvPr/>
        </p:nvSpPr>
        <p:spPr>
          <a:xfrm>
            <a:off x="7223760" y="2103120"/>
            <a:ext cx="1280160" cy="1005840"/>
          </a:xfrm>
          <a:prstGeom prst="rect">
            <a:avLst/>
          </a:prstGeom>
          <a:noFill/>
          <a:ln/>
        </p:spPr>
        <p:txBody>
          <a:bodyPr wrap="square" lIns="0" tIns="0" rIns="0" bIns="0" rtlCol="0" anchor="t"/>
          <a:lstStyle/>
          <a:p>
            <a:pPr marL="0" indent="0">
              <a:buNone/>
            </a:pPr>
            <a:r>
              <a:rPr lang="en-US" sz="1400" dirty="0">
                <a:solidFill>
                  <a:schemeClr val="bg1"/>
                </a:solidFill>
              </a:rPr>
              <a:t>final: 52 per playlist</a:t>
            </a:r>
            <a:endParaRPr lang="en-US" sz="1400" dirty="0"/>
          </a:p>
        </p:txBody>
      </p:sp>
      <p:sp>
        <p:nvSpPr>
          <p:cNvPr id="18" name="note_labels"/>
          <p:cNvSpPr/>
          <p:nvPr/>
        </p:nvSpPr>
        <p:spPr>
          <a:xfrm>
            <a:off x="548640" y="3520440"/>
            <a:ext cx="3931920" cy="1051560"/>
          </a:xfrm>
          <a:prstGeom prst="roundRect">
            <a:avLst>
              <a:gd name="adj" fmla="val 10435"/>
            </a:avLst>
          </a:prstGeom>
          <a:solidFill>
            <a:schemeClr val="bg2"/>
          </a:solidFill>
          <a:ln/>
        </p:spPr>
      </p:sp>
      <p:sp>
        <p:nvSpPr>
          <p:cNvPr id="19" name="note_labels_t"/>
          <p:cNvSpPr txBox="1"/>
          <p:nvPr/>
        </p:nvSpPr>
        <p:spPr>
          <a:xfrm>
            <a:off x="731520" y="3520440"/>
            <a:ext cx="3566160" cy="1051560"/>
          </a:xfrm>
          <a:prstGeom prst="rect">
            <a:avLst/>
          </a:prstGeom>
          <a:noFill/>
          <a:ln/>
        </p:spPr>
        <p:txBody>
          <a:bodyPr wrap="square" lIns="0" tIns="0" rIns="0" bIns="0" rtlCol="0" anchor="ctr"/>
          <a:lstStyle/>
          <a:p>
            <a:pPr marL="0" indent="0">
              <a:buNone/>
            </a:pPr>
            <a:r>
              <a:rPr lang="en-US" sz="1400" dirty="0">
                <a:solidFill>
                  <a:schemeClr val="tx1"/>
                </a:solidFill>
              </a:rPr>
              <a:t>Labels: 13 distinct playlists, e.g. Permanent Wave, Neo-Soul, Hard Rock Workout, Electropop</a:t>
            </a:r>
            <a:endParaRPr lang="en-US" sz="1400" dirty="0"/>
          </a:p>
        </p:txBody>
      </p:sp>
      <p:sp>
        <p:nvSpPr>
          <p:cNvPr id="20" name="note_leak"/>
          <p:cNvSpPr/>
          <p:nvPr/>
        </p:nvSpPr>
        <p:spPr>
          <a:xfrm>
            <a:off x="4663440" y="3520440"/>
            <a:ext cx="3931920" cy="1051560"/>
          </a:xfrm>
          <a:prstGeom prst="roundRect">
            <a:avLst>
              <a:gd name="adj" fmla="val 10435"/>
            </a:avLst>
          </a:prstGeom>
          <a:solidFill>
            <a:schemeClr val="bg2"/>
          </a:solidFill>
          <a:ln/>
        </p:spPr>
      </p:sp>
      <p:sp>
        <p:nvSpPr>
          <p:cNvPr id="21" name="note_leak_t"/>
          <p:cNvSpPr txBox="1"/>
          <p:nvPr/>
        </p:nvSpPr>
        <p:spPr>
          <a:xfrm>
            <a:off x="4846320" y="3520440"/>
            <a:ext cx="3566160" cy="1051560"/>
          </a:xfrm>
          <a:prstGeom prst="rect">
            <a:avLst/>
          </a:prstGeom>
          <a:noFill/>
          <a:ln/>
        </p:spPr>
        <p:txBody>
          <a:bodyPr wrap="square" lIns="0" tIns="0" rIns="0" bIns="0" rtlCol="0" anchor="ctr"/>
          <a:lstStyle/>
          <a:p>
            <a:pPr marL="0" indent="0">
              <a:buNone/>
            </a:pPr>
            <a:r>
              <a:rPr lang="en-US" sz="1400" dirty="0">
                <a:solidFill>
                  <a:schemeClr val="tx1"/>
                </a:solidFill>
              </a:rPr>
              <a:t>playlist_genre and playlist_subgenre are not used as features: they come from the label (leakage)</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Features and evaluation pipeline</a:t>
            </a:r>
            <a:endParaRPr lang="en-US" sz="3000" dirty="0"/>
          </a:p>
        </p:txBody>
      </p:sp>
      <p:sp>
        <p:nvSpPr>
          <p:cNvPr id="3" name="fs_A"/>
          <p:cNvSpPr/>
          <p:nvPr/>
        </p:nvSpPr>
        <p:spPr>
          <a:xfrm>
            <a:off x="548640" y="1234440"/>
            <a:ext cx="2468880" cy="1508760"/>
          </a:xfrm>
          <a:prstGeom prst="roundRect">
            <a:avLst>
              <a:gd name="adj" fmla="val 7273"/>
            </a:avLst>
          </a:prstGeom>
          <a:solidFill>
            <a:schemeClr val="bg2"/>
          </a:solidFill>
          <a:ln/>
        </p:spPr>
      </p:sp>
      <p:sp>
        <p:nvSpPr>
          <p:cNvPr id="4" name="fsdot_A"/>
          <p:cNvSpPr/>
          <p:nvPr/>
        </p:nvSpPr>
        <p:spPr>
          <a:xfrm>
            <a:off x="731520" y="1389888"/>
            <a:ext cx="457200" cy="457200"/>
          </a:xfrm>
          <a:prstGeom prst="ellipse">
            <a:avLst/>
          </a:prstGeom>
          <a:solidFill>
            <a:schemeClr val="accent1"/>
          </a:solidFill>
          <a:ln/>
        </p:spPr>
      </p:sp>
      <p:sp>
        <p:nvSpPr>
          <p:cNvPr id="5" name="fsdot_A_label"/>
          <p:cNvSpPr txBox="1"/>
          <p:nvPr/>
        </p:nvSpPr>
        <p:spPr>
          <a:xfrm>
            <a:off x="731520" y="1389888"/>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A</a:t>
            </a:r>
            <a:endParaRPr lang="en-US" sz="1500" dirty="0"/>
          </a:p>
        </p:txBody>
      </p:sp>
      <p:sp>
        <p:nvSpPr>
          <p:cNvPr id="6" name="fsh_A"/>
          <p:cNvSpPr txBox="1"/>
          <p:nvPr/>
        </p:nvSpPr>
        <p:spPr>
          <a:xfrm>
            <a:off x="1325880" y="1389888"/>
            <a:ext cx="1600200" cy="457200"/>
          </a:xfrm>
          <a:prstGeom prst="rect">
            <a:avLst/>
          </a:prstGeom>
          <a:noFill/>
          <a:ln/>
        </p:spPr>
        <p:txBody>
          <a:bodyPr wrap="square" lIns="0" tIns="0" rIns="0" bIns="0" rtlCol="0" anchor="ctr"/>
          <a:lstStyle/>
          <a:p>
            <a:pPr marL="0" indent="0">
              <a:buNone/>
            </a:pPr>
            <a:r>
              <a:rPr lang="en-US" sz="1600" b="1" dirty="0">
                <a:solidFill>
                  <a:schemeClr val="tx1"/>
                </a:solidFill>
                <a:latin typeface="Cambria" pitchFamily="34" charset="0"/>
                <a:ea typeface="Cambria" pitchFamily="34" charset="-122"/>
                <a:cs typeface="Cambria" pitchFamily="34" charset="-120"/>
              </a:rPr>
              <a:t>Paper baseline</a:t>
            </a:r>
            <a:endParaRPr lang="en-US" sz="1600" dirty="0"/>
          </a:p>
        </p:txBody>
      </p:sp>
      <p:sp>
        <p:nvSpPr>
          <p:cNvPr id="7" name="fsb_A"/>
          <p:cNvSpPr txBox="1"/>
          <p:nvPr/>
        </p:nvSpPr>
        <p:spPr>
          <a:xfrm>
            <a:off x="731520" y="1965960"/>
            <a:ext cx="2148840" cy="731520"/>
          </a:xfrm>
          <a:prstGeom prst="rect">
            <a:avLst/>
          </a:prstGeom>
          <a:noFill/>
          <a:ln/>
        </p:spPr>
        <p:txBody>
          <a:bodyPr wrap="square" lIns="0" tIns="0" rIns="0" bIns="0" rtlCol="0" anchor="t"/>
          <a:lstStyle/>
          <a:p>
            <a:pPr marL="0" indent="0">
              <a:buNone/>
            </a:pPr>
            <a:r>
              <a:rPr lang="en-US" sz="1300" dirty="0">
                <a:solidFill>
                  <a:schemeClr val="tx1"/>
                </a:solidFill>
              </a:rPr>
              <a:t>10 Spotify audio features</a:t>
            </a:r>
            <a:endParaRPr lang="en-US" sz="1300" dirty="0"/>
          </a:p>
        </p:txBody>
      </p:sp>
      <p:sp>
        <p:nvSpPr>
          <p:cNvPr id="8" name="fs_B"/>
          <p:cNvSpPr/>
          <p:nvPr/>
        </p:nvSpPr>
        <p:spPr>
          <a:xfrm>
            <a:off x="3337560" y="1234440"/>
            <a:ext cx="2468880" cy="1508760"/>
          </a:xfrm>
          <a:prstGeom prst="roundRect">
            <a:avLst>
              <a:gd name="adj" fmla="val 7273"/>
            </a:avLst>
          </a:prstGeom>
          <a:solidFill>
            <a:schemeClr val="bg2"/>
          </a:solidFill>
          <a:ln/>
        </p:spPr>
      </p:sp>
      <p:sp>
        <p:nvSpPr>
          <p:cNvPr id="9" name="fsdot_B"/>
          <p:cNvSpPr/>
          <p:nvPr/>
        </p:nvSpPr>
        <p:spPr>
          <a:xfrm>
            <a:off x="3520440" y="1389888"/>
            <a:ext cx="457200" cy="457200"/>
          </a:xfrm>
          <a:prstGeom prst="ellipse">
            <a:avLst/>
          </a:prstGeom>
          <a:solidFill>
            <a:schemeClr val="accent1"/>
          </a:solidFill>
          <a:ln/>
        </p:spPr>
      </p:sp>
      <p:sp>
        <p:nvSpPr>
          <p:cNvPr id="10" name="fsdot_B_label"/>
          <p:cNvSpPr txBox="1"/>
          <p:nvPr/>
        </p:nvSpPr>
        <p:spPr>
          <a:xfrm>
            <a:off x="3520440" y="1389888"/>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B</a:t>
            </a:r>
            <a:endParaRPr lang="en-US" sz="1500" dirty="0"/>
          </a:p>
        </p:txBody>
      </p:sp>
      <p:sp>
        <p:nvSpPr>
          <p:cNvPr id="11" name="fsh_B"/>
          <p:cNvSpPr txBox="1"/>
          <p:nvPr/>
        </p:nvSpPr>
        <p:spPr>
          <a:xfrm>
            <a:off x="4114800" y="1389888"/>
            <a:ext cx="1600200" cy="457200"/>
          </a:xfrm>
          <a:prstGeom prst="rect">
            <a:avLst/>
          </a:prstGeom>
          <a:noFill/>
          <a:ln/>
        </p:spPr>
        <p:txBody>
          <a:bodyPr wrap="square" lIns="0" tIns="0" rIns="0" bIns="0" rtlCol="0" anchor="ctr"/>
          <a:lstStyle/>
          <a:p>
            <a:pPr marL="0" indent="0">
              <a:buNone/>
            </a:pPr>
            <a:r>
              <a:rPr lang="en-US" sz="1600" b="1" dirty="0">
                <a:solidFill>
                  <a:schemeClr val="tx1"/>
                </a:solidFill>
                <a:latin typeface="Cambria" pitchFamily="34" charset="0"/>
                <a:ea typeface="Cambria" pitchFamily="34" charset="-122"/>
                <a:cs typeface="Cambria" pitchFamily="34" charset="-120"/>
              </a:rPr>
              <a:t>A + 3 ratios</a:t>
            </a:r>
            <a:endParaRPr lang="en-US" sz="1600" dirty="0"/>
          </a:p>
        </p:txBody>
      </p:sp>
      <p:sp>
        <p:nvSpPr>
          <p:cNvPr id="12" name="fsb_B"/>
          <p:cNvSpPr txBox="1"/>
          <p:nvPr/>
        </p:nvSpPr>
        <p:spPr>
          <a:xfrm>
            <a:off x="3520440" y="1965960"/>
            <a:ext cx="2148840" cy="731520"/>
          </a:xfrm>
          <a:prstGeom prst="rect">
            <a:avLst/>
          </a:prstGeom>
          <a:noFill/>
          <a:ln/>
        </p:spPr>
        <p:txBody>
          <a:bodyPr wrap="square" lIns="0" tIns="0" rIns="0" bIns="0" rtlCol="0" anchor="t"/>
          <a:lstStyle/>
          <a:p>
            <a:pPr marL="0" indent="0">
              <a:buNone/>
            </a:pPr>
            <a:r>
              <a:rPr lang="en-US" sz="1300" dirty="0">
                <a:solidFill>
                  <a:schemeClr val="tx1"/>
                </a:solidFill>
              </a:rPr>
              <a:t>energy/dance, acoustic/energy, tempo x energy</a:t>
            </a:r>
            <a:endParaRPr lang="en-US" sz="1300" dirty="0"/>
          </a:p>
        </p:txBody>
      </p:sp>
      <p:sp>
        <p:nvSpPr>
          <p:cNvPr id="13" name="fs_C"/>
          <p:cNvSpPr/>
          <p:nvPr/>
        </p:nvSpPr>
        <p:spPr>
          <a:xfrm>
            <a:off x="6126480" y="1234440"/>
            <a:ext cx="2468880" cy="1508760"/>
          </a:xfrm>
          <a:prstGeom prst="roundRect">
            <a:avLst>
              <a:gd name="adj" fmla="val 7273"/>
            </a:avLst>
          </a:prstGeom>
          <a:solidFill>
            <a:schemeClr val="bg2"/>
          </a:solidFill>
          <a:ln/>
        </p:spPr>
      </p:sp>
      <p:sp>
        <p:nvSpPr>
          <p:cNvPr id="14" name="fsdot_C"/>
          <p:cNvSpPr/>
          <p:nvPr/>
        </p:nvSpPr>
        <p:spPr>
          <a:xfrm>
            <a:off x="6309360" y="1389888"/>
            <a:ext cx="457200" cy="457200"/>
          </a:xfrm>
          <a:prstGeom prst="ellipse">
            <a:avLst/>
          </a:prstGeom>
          <a:solidFill>
            <a:schemeClr val="accent2"/>
          </a:solidFill>
          <a:ln/>
        </p:spPr>
      </p:sp>
      <p:sp>
        <p:nvSpPr>
          <p:cNvPr id="15" name="fsdot_C_label"/>
          <p:cNvSpPr txBox="1"/>
          <p:nvPr/>
        </p:nvSpPr>
        <p:spPr>
          <a:xfrm>
            <a:off x="6309360" y="1389888"/>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C</a:t>
            </a:r>
            <a:endParaRPr lang="en-US" sz="1500" dirty="0"/>
          </a:p>
        </p:txBody>
      </p:sp>
      <p:sp>
        <p:nvSpPr>
          <p:cNvPr id="16" name="fsh_C"/>
          <p:cNvSpPr txBox="1"/>
          <p:nvPr/>
        </p:nvSpPr>
        <p:spPr>
          <a:xfrm>
            <a:off x="6903720" y="1389888"/>
            <a:ext cx="1600200" cy="457200"/>
          </a:xfrm>
          <a:prstGeom prst="rect">
            <a:avLst/>
          </a:prstGeom>
          <a:noFill/>
          <a:ln/>
        </p:spPr>
        <p:txBody>
          <a:bodyPr wrap="square" lIns="0" tIns="0" rIns="0" bIns="0" rtlCol="0" anchor="ctr"/>
          <a:lstStyle/>
          <a:p>
            <a:pPr marL="0" indent="0">
              <a:buNone/>
            </a:pPr>
            <a:r>
              <a:rPr lang="en-US" sz="1600" b="1" dirty="0">
                <a:solidFill>
                  <a:schemeClr val="tx1"/>
                </a:solidFill>
                <a:latin typeface="Cambria" pitchFamily="34" charset="0"/>
                <a:ea typeface="Cambria" pitchFamily="34" charset="-122"/>
                <a:cs typeface="Cambria" pitchFamily="34" charset="-120"/>
              </a:rPr>
              <a:t>B + 4 metadata</a:t>
            </a:r>
            <a:endParaRPr lang="en-US" sz="1600" dirty="0"/>
          </a:p>
        </p:txBody>
      </p:sp>
      <p:sp>
        <p:nvSpPr>
          <p:cNvPr id="17" name="fsb_C"/>
          <p:cNvSpPr txBox="1"/>
          <p:nvPr/>
        </p:nvSpPr>
        <p:spPr>
          <a:xfrm>
            <a:off x="6309360" y="1965960"/>
            <a:ext cx="2148840" cy="731520"/>
          </a:xfrm>
          <a:prstGeom prst="rect">
            <a:avLst/>
          </a:prstGeom>
          <a:noFill/>
          <a:ln/>
        </p:spPr>
        <p:txBody>
          <a:bodyPr wrap="square" lIns="0" tIns="0" rIns="0" bIns="0" rtlCol="0" anchor="t"/>
          <a:lstStyle/>
          <a:p>
            <a:pPr marL="0" indent="0">
              <a:buNone/>
            </a:pPr>
            <a:r>
              <a:rPr lang="en-US" sz="1300" dirty="0">
                <a:solidFill>
                  <a:schemeClr val="tx1"/>
                </a:solidFill>
              </a:rPr>
              <a:t>instrumentalness, duration, popularity, release year</a:t>
            </a:r>
            <a:endParaRPr lang="en-US" sz="1300" dirty="0"/>
          </a:p>
        </p:txBody>
      </p:sp>
      <p:sp>
        <p:nvSpPr>
          <p:cNvPr id="18" name="pipe_0"/>
          <p:cNvSpPr/>
          <p:nvPr/>
        </p:nvSpPr>
        <p:spPr>
          <a:xfrm>
            <a:off x="548640" y="3108960"/>
            <a:ext cx="502920" cy="502920"/>
          </a:xfrm>
          <a:prstGeom prst="ellipse">
            <a:avLst/>
          </a:prstGeom>
          <a:solidFill>
            <a:srgbClr val="3A2A63"/>
          </a:solidFill>
          <a:ln/>
        </p:spPr>
      </p:sp>
      <p:sp>
        <p:nvSpPr>
          <p:cNvPr id="19" name="pipe_0_label"/>
          <p:cNvSpPr txBox="1"/>
          <p:nvPr/>
        </p:nvSpPr>
        <p:spPr>
          <a:xfrm>
            <a:off x="548640" y="31089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1</a:t>
            </a:r>
            <a:endParaRPr lang="en-US" sz="1700" dirty="0"/>
          </a:p>
        </p:txBody>
      </p:sp>
      <p:sp>
        <p:nvSpPr>
          <p:cNvPr id="20" name="parrow_0"/>
          <p:cNvSpPr/>
          <p:nvPr/>
        </p:nvSpPr>
        <p:spPr>
          <a:xfrm>
            <a:off x="1234440" y="3246120"/>
            <a:ext cx="822960" cy="228600"/>
          </a:xfrm>
          <a:prstGeom prst="rightArrow">
            <a:avLst/>
          </a:prstGeom>
          <a:solidFill>
            <a:srgbClr val="B7A9D9"/>
          </a:solidFill>
          <a:ln/>
        </p:spPr>
      </p:sp>
      <p:sp>
        <p:nvSpPr>
          <p:cNvPr id="21" name="ph_0"/>
          <p:cNvSpPr txBox="1"/>
          <p:nvPr/>
        </p:nvSpPr>
        <p:spPr>
          <a:xfrm>
            <a:off x="548640" y="3749040"/>
            <a:ext cx="1874520" cy="320040"/>
          </a:xfrm>
          <a:prstGeom prst="rect">
            <a:avLst/>
          </a:prstGeom>
          <a:noFill/>
          <a:ln/>
        </p:spPr>
        <p:txBody>
          <a:bodyPr wrap="square" lIns="0" tIns="0" rIns="0" bIns="0" rtlCol="0" anchor="t"/>
          <a:lstStyle/>
          <a:p>
            <a:pPr marL="0" indent="0">
              <a:buNone/>
            </a:pPr>
            <a:r>
              <a:rPr lang="en-US" sz="1400" b="1" dirty="0">
                <a:solidFill>
                  <a:schemeClr val="tx1"/>
                </a:solidFill>
              </a:rPr>
              <a:t>80/20 stratified split</a:t>
            </a:r>
            <a:endParaRPr lang="en-US" sz="1400" dirty="0"/>
          </a:p>
        </p:txBody>
      </p:sp>
      <p:sp>
        <p:nvSpPr>
          <p:cNvPr id="22" name="pb_0"/>
          <p:cNvSpPr txBox="1"/>
          <p:nvPr/>
        </p:nvSpPr>
        <p:spPr>
          <a:xfrm>
            <a:off x="548640" y="4069080"/>
            <a:ext cx="1874520" cy="274320"/>
          </a:xfrm>
          <a:prstGeom prst="rect">
            <a:avLst/>
          </a:prstGeom>
          <a:noFill/>
          <a:ln/>
        </p:spPr>
        <p:txBody>
          <a:bodyPr wrap="square" lIns="0" tIns="0" rIns="0" bIns="0" rtlCol="0" anchor="t"/>
          <a:lstStyle/>
          <a:p>
            <a:pPr marL="0" indent="0">
              <a:buNone/>
            </a:pPr>
            <a:r>
              <a:rPr lang="en-US" sz="1200" dirty="0">
                <a:solidFill>
                  <a:schemeClr val="accent5"/>
                </a:solidFill>
              </a:rPr>
              <a:t>540 train, 136 test</a:t>
            </a:r>
            <a:endParaRPr lang="en-US" sz="1200" dirty="0"/>
          </a:p>
        </p:txBody>
      </p:sp>
      <p:sp>
        <p:nvSpPr>
          <p:cNvPr id="23" name="pipe_1"/>
          <p:cNvSpPr/>
          <p:nvPr/>
        </p:nvSpPr>
        <p:spPr>
          <a:xfrm>
            <a:off x="2606040" y="3108960"/>
            <a:ext cx="502920" cy="502920"/>
          </a:xfrm>
          <a:prstGeom prst="ellipse">
            <a:avLst/>
          </a:prstGeom>
          <a:solidFill>
            <a:srgbClr val="3A2A63"/>
          </a:solidFill>
          <a:ln/>
        </p:spPr>
      </p:sp>
      <p:sp>
        <p:nvSpPr>
          <p:cNvPr id="24" name="pipe_1_label"/>
          <p:cNvSpPr txBox="1"/>
          <p:nvPr/>
        </p:nvSpPr>
        <p:spPr>
          <a:xfrm>
            <a:off x="2606040" y="31089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2</a:t>
            </a:r>
            <a:endParaRPr lang="en-US" sz="1700" dirty="0"/>
          </a:p>
        </p:txBody>
      </p:sp>
      <p:sp>
        <p:nvSpPr>
          <p:cNvPr id="25" name="parrow_1"/>
          <p:cNvSpPr/>
          <p:nvPr/>
        </p:nvSpPr>
        <p:spPr>
          <a:xfrm>
            <a:off x="3291840" y="3246120"/>
            <a:ext cx="822960" cy="228600"/>
          </a:xfrm>
          <a:prstGeom prst="rightArrow">
            <a:avLst/>
          </a:prstGeom>
          <a:solidFill>
            <a:srgbClr val="B7A9D9"/>
          </a:solidFill>
          <a:ln/>
        </p:spPr>
      </p:sp>
      <p:sp>
        <p:nvSpPr>
          <p:cNvPr id="26" name="ph_1"/>
          <p:cNvSpPr txBox="1"/>
          <p:nvPr/>
        </p:nvSpPr>
        <p:spPr>
          <a:xfrm>
            <a:off x="2606040" y="3749040"/>
            <a:ext cx="1874520" cy="320040"/>
          </a:xfrm>
          <a:prstGeom prst="rect">
            <a:avLst/>
          </a:prstGeom>
          <a:noFill/>
          <a:ln/>
        </p:spPr>
        <p:txBody>
          <a:bodyPr wrap="square" lIns="0" tIns="0" rIns="0" bIns="0" rtlCol="0" anchor="t"/>
          <a:lstStyle/>
          <a:p>
            <a:pPr marL="0" indent="0">
              <a:buNone/>
            </a:pPr>
            <a:r>
              <a:rPr lang="en-US" sz="1400" b="1" dirty="0">
                <a:solidFill>
                  <a:schemeClr val="tx1"/>
                </a:solidFill>
              </a:rPr>
              <a:t>Tune with 5-fold CV</a:t>
            </a:r>
            <a:endParaRPr lang="en-US" sz="1400" dirty="0"/>
          </a:p>
        </p:txBody>
      </p:sp>
      <p:sp>
        <p:nvSpPr>
          <p:cNvPr id="27" name="pb_1"/>
          <p:cNvSpPr txBox="1"/>
          <p:nvPr/>
        </p:nvSpPr>
        <p:spPr>
          <a:xfrm>
            <a:off x="2606040" y="4069080"/>
            <a:ext cx="1874520" cy="274320"/>
          </a:xfrm>
          <a:prstGeom prst="rect">
            <a:avLst/>
          </a:prstGeom>
          <a:noFill/>
          <a:ln/>
        </p:spPr>
        <p:txBody>
          <a:bodyPr wrap="square" lIns="0" tIns="0" rIns="0" bIns="0" rtlCol="0" anchor="t"/>
          <a:lstStyle/>
          <a:p>
            <a:pPr marL="0" indent="0">
              <a:buNone/>
            </a:pPr>
            <a:r>
              <a:rPr lang="en-US" sz="1200" dirty="0">
                <a:solidFill>
                  <a:schemeClr val="accent5"/>
                </a:solidFill>
              </a:rPr>
              <a:t>training data only</a:t>
            </a:r>
            <a:endParaRPr lang="en-US" sz="1200" dirty="0"/>
          </a:p>
        </p:txBody>
      </p:sp>
      <p:sp>
        <p:nvSpPr>
          <p:cNvPr id="28" name="pipe_2"/>
          <p:cNvSpPr/>
          <p:nvPr/>
        </p:nvSpPr>
        <p:spPr>
          <a:xfrm>
            <a:off x="4663440" y="3108960"/>
            <a:ext cx="502920" cy="502920"/>
          </a:xfrm>
          <a:prstGeom prst="ellipse">
            <a:avLst/>
          </a:prstGeom>
          <a:solidFill>
            <a:srgbClr val="3A2A63"/>
          </a:solidFill>
          <a:ln/>
        </p:spPr>
      </p:sp>
      <p:sp>
        <p:nvSpPr>
          <p:cNvPr id="29" name="pipe_2_label"/>
          <p:cNvSpPr txBox="1"/>
          <p:nvPr/>
        </p:nvSpPr>
        <p:spPr>
          <a:xfrm>
            <a:off x="4663440" y="31089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3</a:t>
            </a:r>
            <a:endParaRPr lang="en-US" sz="1700" dirty="0"/>
          </a:p>
        </p:txBody>
      </p:sp>
      <p:sp>
        <p:nvSpPr>
          <p:cNvPr id="30" name="parrow_2"/>
          <p:cNvSpPr/>
          <p:nvPr/>
        </p:nvSpPr>
        <p:spPr>
          <a:xfrm>
            <a:off x="5349240" y="3246120"/>
            <a:ext cx="822960" cy="228600"/>
          </a:xfrm>
          <a:prstGeom prst="rightArrow">
            <a:avLst/>
          </a:prstGeom>
          <a:solidFill>
            <a:srgbClr val="B7A9D9"/>
          </a:solidFill>
          <a:ln/>
        </p:spPr>
      </p:sp>
      <p:sp>
        <p:nvSpPr>
          <p:cNvPr id="31" name="ph_2"/>
          <p:cNvSpPr txBox="1"/>
          <p:nvPr/>
        </p:nvSpPr>
        <p:spPr>
          <a:xfrm>
            <a:off x="4663440" y="3749040"/>
            <a:ext cx="1874520" cy="320040"/>
          </a:xfrm>
          <a:prstGeom prst="rect">
            <a:avLst/>
          </a:prstGeom>
          <a:noFill/>
          <a:ln/>
        </p:spPr>
        <p:txBody>
          <a:bodyPr wrap="square" lIns="0" tIns="0" rIns="0" bIns="0" rtlCol="0" anchor="t"/>
          <a:lstStyle/>
          <a:p>
            <a:pPr marL="0" indent="0">
              <a:buNone/>
            </a:pPr>
            <a:r>
              <a:rPr lang="en-US" sz="1400" b="1" dirty="0">
                <a:solidFill>
                  <a:schemeClr val="tx1"/>
                </a:solidFill>
              </a:rPr>
              <a:t>Select by repeated CV</a:t>
            </a:r>
            <a:endParaRPr lang="en-US" sz="1400" dirty="0"/>
          </a:p>
        </p:txBody>
      </p:sp>
      <p:sp>
        <p:nvSpPr>
          <p:cNvPr id="32" name="pb_2"/>
          <p:cNvSpPr txBox="1"/>
          <p:nvPr/>
        </p:nvSpPr>
        <p:spPr>
          <a:xfrm>
            <a:off x="4663440" y="4069080"/>
            <a:ext cx="1874520" cy="274320"/>
          </a:xfrm>
          <a:prstGeom prst="rect">
            <a:avLst/>
          </a:prstGeom>
          <a:noFill/>
          <a:ln/>
        </p:spPr>
        <p:txBody>
          <a:bodyPr wrap="square" lIns="0" tIns="0" rIns="0" bIns="0" rtlCol="0" anchor="t"/>
          <a:lstStyle/>
          <a:p>
            <a:pPr marL="0" indent="0">
              <a:buNone/>
            </a:pPr>
            <a:r>
              <a:rPr lang="en-US" sz="1200" dirty="0">
                <a:solidFill>
                  <a:schemeClr val="accent5"/>
                </a:solidFill>
              </a:rPr>
              <a:t>5 folds x 3 repeats</a:t>
            </a:r>
            <a:endParaRPr lang="en-US" sz="1200" dirty="0"/>
          </a:p>
        </p:txBody>
      </p:sp>
      <p:sp>
        <p:nvSpPr>
          <p:cNvPr id="33" name="pipe_3"/>
          <p:cNvSpPr/>
          <p:nvPr/>
        </p:nvSpPr>
        <p:spPr>
          <a:xfrm>
            <a:off x="6720840" y="3108960"/>
            <a:ext cx="502920" cy="502920"/>
          </a:xfrm>
          <a:prstGeom prst="ellipse">
            <a:avLst/>
          </a:prstGeom>
          <a:solidFill>
            <a:srgbClr val="3A2A63"/>
          </a:solidFill>
          <a:ln/>
        </p:spPr>
      </p:sp>
      <p:sp>
        <p:nvSpPr>
          <p:cNvPr id="34" name="pipe_3_label"/>
          <p:cNvSpPr txBox="1"/>
          <p:nvPr/>
        </p:nvSpPr>
        <p:spPr>
          <a:xfrm>
            <a:off x="6720840" y="31089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4</a:t>
            </a:r>
            <a:endParaRPr lang="en-US" sz="1700" dirty="0"/>
          </a:p>
        </p:txBody>
      </p:sp>
      <p:sp>
        <p:nvSpPr>
          <p:cNvPr id="35" name="ph_3"/>
          <p:cNvSpPr txBox="1"/>
          <p:nvPr/>
        </p:nvSpPr>
        <p:spPr>
          <a:xfrm>
            <a:off x="6720840" y="3749040"/>
            <a:ext cx="1874520" cy="320040"/>
          </a:xfrm>
          <a:prstGeom prst="rect">
            <a:avLst/>
          </a:prstGeom>
          <a:noFill/>
          <a:ln/>
        </p:spPr>
        <p:txBody>
          <a:bodyPr wrap="square" lIns="0" tIns="0" rIns="0" bIns="0" rtlCol="0" anchor="t"/>
          <a:lstStyle/>
          <a:p>
            <a:pPr marL="0" indent="0">
              <a:buNone/>
            </a:pPr>
            <a:r>
              <a:rPr lang="en-US" sz="1400" b="1" dirty="0">
                <a:solidFill>
                  <a:schemeClr val="tx1"/>
                </a:solidFill>
              </a:rPr>
              <a:t>Report on test set</a:t>
            </a:r>
            <a:endParaRPr lang="en-US" sz="1400" dirty="0"/>
          </a:p>
        </p:txBody>
      </p:sp>
      <p:sp>
        <p:nvSpPr>
          <p:cNvPr id="36" name="pb_3"/>
          <p:cNvSpPr txBox="1"/>
          <p:nvPr/>
        </p:nvSpPr>
        <p:spPr>
          <a:xfrm>
            <a:off x="6720840" y="4069080"/>
            <a:ext cx="1874520" cy="274320"/>
          </a:xfrm>
          <a:prstGeom prst="rect">
            <a:avLst/>
          </a:prstGeom>
          <a:noFill/>
          <a:ln/>
        </p:spPr>
        <p:txBody>
          <a:bodyPr wrap="square" lIns="0" tIns="0" rIns="0" bIns="0" rtlCol="0" anchor="t"/>
          <a:lstStyle/>
          <a:p>
            <a:pPr marL="0" indent="0">
              <a:buNone/>
            </a:pPr>
            <a:r>
              <a:rPr lang="en-US" sz="1200" dirty="0">
                <a:solidFill>
                  <a:schemeClr val="accent5"/>
                </a:solidFill>
              </a:rPr>
              <a:t>used once</a:t>
            </a:r>
            <a:endParaRPr lang="en-US" sz="1200" dirty="0"/>
          </a:p>
        </p:txBody>
      </p:sp>
      <p:sp>
        <p:nvSpPr>
          <p:cNvPr id="37"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Replicating the paper's baselines</a:t>
            </a:r>
            <a:endParaRPr lang="en-US" sz="3000" dirty="0"/>
          </a:p>
        </p:txBody>
      </p:sp>
      <p:graphicFrame>
        <p:nvGraphicFramePr>
          <p:cNvPr id="3" name="Chart 0"/>
          <p:cNvGraphicFramePr/>
          <p:nvPr/>
        </p:nvGraphicFramePr>
        <p:xfrm>
          <a:off x="457200" y="1143000"/>
          <a:ext cx="5394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st6a_num"/>
          <p:cNvSpPr txBox="1"/>
          <p:nvPr/>
        </p:nvSpPr>
        <p:spPr>
          <a:xfrm>
            <a:off x="6172200" y="1371600"/>
            <a:ext cx="2468880" cy="566928"/>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0.27 vs 0.10</a:t>
            </a:r>
            <a:endParaRPr lang="en-US" sz="3400" dirty="0"/>
          </a:p>
        </p:txBody>
      </p:sp>
      <p:sp>
        <p:nvSpPr>
          <p:cNvPr id="5" name="st6a_lbl"/>
          <p:cNvSpPr txBox="1"/>
          <p:nvPr/>
        </p:nvSpPr>
        <p:spPr>
          <a:xfrm>
            <a:off x="6172200" y="1938528"/>
            <a:ext cx="2468880" cy="502920"/>
          </a:xfrm>
          <a:prstGeom prst="rect">
            <a:avLst/>
          </a:prstGeom>
          <a:noFill/>
          <a:ln/>
        </p:spPr>
        <p:txBody>
          <a:bodyPr wrap="square" lIns="0" tIns="0" rIns="0" bIns="0" rtlCol="0" anchor="t"/>
          <a:lstStyle/>
          <a:p>
            <a:pPr marL="0" indent="0">
              <a:buNone/>
            </a:pPr>
            <a:r>
              <a:rPr lang="en-US" sz="1300" dirty="0">
                <a:solidFill>
                  <a:schemeClr val="tx1"/>
                </a:solidFill>
              </a:rPr>
              <a:t>RBF SVM scaled vs unscaled: scaling is essential, as in the paper</a:t>
            </a:r>
            <a:endParaRPr lang="en-US" sz="1300" dirty="0"/>
          </a:p>
        </p:txBody>
      </p:sp>
      <p:sp>
        <p:nvSpPr>
          <p:cNvPr id="6" name="st6b_num"/>
          <p:cNvSpPr txBox="1"/>
          <p:nvPr/>
        </p:nvSpPr>
        <p:spPr>
          <a:xfrm>
            <a:off x="6172200" y="2834640"/>
            <a:ext cx="2468880" cy="566928"/>
          </a:xfrm>
          <a:prstGeom prst="rect">
            <a:avLst/>
          </a:prstGeom>
          <a:noFill/>
          <a:ln/>
        </p:spPr>
        <p:txBody>
          <a:bodyPr wrap="square" lIns="0" tIns="0" rIns="0" bIns="0" rtlCol="0" anchor="t"/>
          <a:lstStyle/>
          <a:p>
            <a:pPr marL="0" indent="0">
              <a:buNone/>
            </a:pPr>
            <a:r>
              <a:rPr lang="en-US" sz="3400" b="1" dirty="0">
                <a:solidFill>
                  <a:schemeClr val="accent1"/>
                </a:solidFill>
                <a:latin typeface="Cambria" pitchFamily="34" charset="0"/>
                <a:ea typeface="Cambria" pitchFamily="34" charset="-122"/>
                <a:cs typeface="Cambria" pitchFamily="34" charset="-120"/>
              </a:rPr>
              <a:t>~0.30</a:t>
            </a:r>
            <a:endParaRPr lang="en-US" sz="3400" dirty="0"/>
          </a:p>
        </p:txBody>
      </p:sp>
      <p:sp>
        <p:nvSpPr>
          <p:cNvPr id="7" name="st6b_lbl"/>
          <p:cNvSpPr txBox="1"/>
          <p:nvPr/>
        </p:nvSpPr>
        <p:spPr>
          <a:xfrm>
            <a:off x="6172200" y="3401568"/>
            <a:ext cx="2468880" cy="502920"/>
          </a:xfrm>
          <a:prstGeom prst="rect">
            <a:avLst/>
          </a:prstGeom>
          <a:noFill/>
          <a:ln/>
        </p:spPr>
        <p:txBody>
          <a:bodyPr wrap="square" lIns="0" tIns="0" rIns="0" bIns="0" rtlCol="0" anchor="t"/>
          <a:lstStyle/>
          <a:p>
            <a:pPr marL="0" indent="0">
              <a:buNone/>
            </a:pPr>
            <a:r>
              <a:rPr lang="en-US" sz="1300" dirty="0">
                <a:solidFill>
                  <a:schemeClr val="tx1"/>
                </a:solidFill>
              </a:rPr>
              <a:t>our baseline vs the paper's 0.77 to 0.82: no genre tags, more overlapping playlists</a:t>
            </a:r>
            <a:endParaRPr lang="en-US" sz="13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Hyperparameter tuning pays off</a:t>
            </a:r>
            <a:endParaRPr lang="en-US" sz="3000" dirty="0"/>
          </a:p>
        </p:txBody>
      </p:sp>
      <p:graphicFrame>
        <p:nvGraphicFramePr>
          <p:cNvPr id="3" name="Chart 0"/>
          <p:cNvGraphicFramePr/>
          <p:nvPr/>
        </p:nvGraphicFramePr>
        <p:xfrm>
          <a:off x="457200" y="1143000"/>
          <a:ext cx="45720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tune_0"/>
          <p:cNvSpPr/>
          <p:nvPr/>
        </p:nvSpPr>
        <p:spPr>
          <a:xfrm>
            <a:off x="5303520" y="1188720"/>
            <a:ext cx="3291840" cy="822960"/>
          </a:xfrm>
          <a:prstGeom prst="roundRect">
            <a:avLst>
              <a:gd name="adj" fmla="val 13333"/>
            </a:avLst>
          </a:prstGeom>
          <a:solidFill>
            <a:schemeClr val="bg2"/>
          </a:solidFill>
          <a:ln/>
        </p:spPr>
      </p:sp>
      <p:sp>
        <p:nvSpPr>
          <p:cNvPr id="5" name="tuneh_0"/>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300" b="1" dirty="0">
                <a:solidFill>
                  <a:schemeClr val="tx1"/>
                </a:solidFill>
              </a:rPr>
              <a:t>SVM: GridSearchCV</a:t>
            </a:r>
            <a:endParaRPr lang="en-US" sz="1300" dirty="0"/>
          </a:p>
        </p:txBody>
      </p:sp>
      <p:sp>
        <p:nvSpPr>
          <p:cNvPr id="6" name="tuneb_0"/>
          <p:cNvSpPr txBox="1"/>
          <p:nvPr/>
        </p:nvSpPr>
        <p:spPr>
          <a:xfrm>
            <a:off x="5440680" y="1600200"/>
            <a:ext cx="3017520" cy="320040"/>
          </a:xfrm>
          <a:prstGeom prst="rect">
            <a:avLst/>
          </a:prstGeom>
          <a:noFill/>
          <a:ln/>
        </p:spPr>
        <p:txBody>
          <a:bodyPr wrap="square" lIns="0" tIns="0" rIns="0" bIns="0" rtlCol="0" anchor="t"/>
          <a:lstStyle/>
          <a:p>
            <a:pPr marL="0" indent="0">
              <a:buNone/>
            </a:pPr>
            <a:r>
              <a:rPr lang="en-US" sz="1200" dirty="0">
                <a:solidFill>
                  <a:schemeClr val="accent5"/>
                </a:solidFill>
              </a:rPr>
              <a:t>C=30, gamma=0.003, quantile scaler</a:t>
            </a:r>
            <a:endParaRPr lang="en-US" sz="1200" dirty="0"/>
          </a:p>
        </p:txBody>
      </p:sp>
      <p:sp>
        <p:nvSpPr>
          <p:cNvPr id="7" name="tune_1"/>
          <p:cNvSpPr/>
          <p:nvPr/>
        </p:nvSpPr>
        <p:spPr>
          <a:xfrm>
            <a:off x="5303520" y="2121408"/>
            <a:ext cx="3291840" cy="822960"/>
          </a:xfrm>
          <a:prstGeom prst="roundRect">
            <a:avLst>
              <a:gd name="adj" fmla="val 13333"/>
            </a:avLst>
          </a:prstGeom>
          <a:solidFill>
            <a:schemeClr val="bg2"/>
          </a:solidFill>
          <a:ln/>
        </p:spPr>
      </p:sp>
      <p:sp>
        <p:nvSpPr>
          <p:cNvPr id="8" name="tuneh_1"/>
          <p:cNvSpPr txBox="1"/>
          <p:nvPr/>
        </p:nvSpPr>
        <p:spPr>
          <a:xfrm>
            <a:off x="5440680" y="2212848"/>
            <a:ext cx="3017520" cy="274320"/>
          </a:xfrm>
          <a:prstGeom prst="rect">
            <a:avLst/>
          </a:prstGeom>
          <a:noFill/>
          <a:ln/>
        </p:spPr>
        <p:txBody>
          <a:bodyPr wrap="square" lIns="0" tIns="0" rIns="0" bIns="0" rtlCol="0" anchor="t"/>
          <a:lstStyle/>
          <a:p>
            <a:pPr marL="0" indent="0">
              <a:buNone/>
            </a:pPr>
            <a:r>
              <a:rPr lang="en-US" sz="1300" b="1" dirty="0">
                <a:solidFill>
                  <a:schemeClr val="tx1"/>
                </a:solidFill>
              </a:rPr>
              <a:t>Random Forest: RandomizedSearchCV</a:t>
            </a:r>
            <a:endParaRPr lang="en-US" sz="1300" dirty="0"/>
          </a:p>
        </p:txBody>
      </p:sp>
      <p:sp>
        <p:nvSpPr>
          <p:cNvPr id="9" name="tuneb_1"/>
          <p:cNvSpPr txBox="1"/>
          <p:nvPr/>
        </p:nvSpPr>
        <p:spPr>
          <a:xfrm>
            <a:off x="5440680" y="2532888"/>
            <a:ext cx="3017520" cy="320040"/>
          </a:xfrm>
          <a:prstGeom prst="rect">
            <a:avLst/>
          </a:prstGeom>
          <a:noFill/>
          <a:ln/>
        </p:spPr>
        <p:txBody>
          <a:bodyPr wrap="square" lIns="0" tIns="0" rIns="0" bIns="0" rtlCol="0" anchor="t"/>
          <a:lstStyle/>
          <a:p>
            <a:pPr marL="0" indent="0">
              <a:buNone/>
            </a:pPr>
            <a:r>
              <a:rPr lang="en-US" sz="1200" dirty="0">
                <a:solidFill>
                  <a:schemeClr val="accent5"/>
                </a:solidFill>
              </a:rPr>
              <a:t>200 trees, depth 12, min leaf 4</a:t>
            </a:r>
            <a:endParaRPr lang="en-US" sz="1200" dirty="0"/>
          </a:p>
        </p:txBody>
      </p:sp>
      <p:sp>
        <p:nvSpPr>
          <p:cNvPr id="10" name="tune_2"/>
          <p:cNvSpPr/>
          <p:nvPr/>
        </p:nvSpPr>
        <p:spPr>
          <a:xfrm>
            <a:off x="5303520" y="3054096"/>
            <a:ext cx="3291840" cy="822960"/>
          </a:xfrm>
          <a:prstGeom prst="roundRect">
            <a:avLst>
              <a:gd name="adj" fmla="val 13333"/>
            </a:avLst>
          </a:prstGeom>
          <a:solidFill>
            <a:schemeClr val="bg2"/>
          </a:solidFill>
          <a:ln/>
        </p:spPr>
      </p:sp>
      <p:sp>
        <p:nvSpPr>
          <p:cNvPr id="11" name="tuneh_2"/>
          <p:cNvSpPr txBox="1"/>
          <p:nvPr/>
        </p:nvSpPr>
        <p:spPr>
          <a:xfrm>
            <a:off x="5440680" y="3145536"/>
            <a:ext cx="3017520" cy="274320"/>
          </a:xfrm>
          <a:prstGeom prst="rect">
            <a:avLst/>
          </a:prstGeom>
          <a:noFill/>
          <a:ln/>
        </p:spPr>
        <p:txBody>
          <a:bodyPr wrap="square" lIns="0" tIns="0" rIns="0" bIns="0" rtlCol="0" anchor="t"/>
          <a:lstStyle/>
          <a:p>
            <a:pPr marL="0" indent="0">
              <a:buNone/>
            </a:pPr>
            <a:r>
              <a:rPr lang="en-US" sz="1300" b="1" dirty="0">
                <a:solidFill>
                  <a:schemeClr val="tx1"/>
                </a:solidFill>
              </a:rPr>
              <a:t>HistGB: RandomizedSearchCV</a:t>
            </a:r>
            <a:endParaRPr lang="en-US" sz="1300" dirty="0"/>
          </a:p>
        </p:txBody>
      </p:sp>
      <p:sp>
        <p:nvSpPr>
          <p:cNvPr id="12" name="tuneb_2"/>
          <p:cNvSpPr txBox="1"/>
          <p:nvPr/>
        </p:nvSpPr>
        <p:spPr>
          <a:xfrm>
            <a:off x="5440680" y="3465576"/>
            <a:ext cx="3017520" cy="320040"/>
          </a:xfrm>
          <a:prstGeom prst="rect">
            <a:avLst/>
          </a:prstGeom>
          <a:noFill/>
          <a:ln/>
        </p:spPr>
        <p:txBody>
          <a:bodyPr wrap="square" lIns="0" tIns="0" rIns="0" bIns="0" rtlCol="0" anchor="t"/>
          <a:lstStyle/>
          <a:p>
            <a:pPr marL="0" indent="0">
              <a:buNone/>
            </a:pPr>
            <a:r>
              <a:rPr lang="en-US" sz="1200" dirty="0">
                <a:solidFill>
                  <a:schemeClr val="accent5"/>
                </a:solidFill>
              </a:rPr>
              <a:t>lr 0.03, 15 leaves, min leaf 40</a:t>
            </a:r>
            <a:endParaRPr lang="en-US" sz="1200" dirty="0"/>
          </a:p>
        </p:txBody>
      </p:sp>
      <p:sp>
        <p:nvSpPr>
          <p:cNvPr id="13" name="tune_extra"/>
          <p:cNvSpPr txBox="1"/>
          <p:nvPr/>
        </p:nvSpPr>
        <p:spPr>
          <a:xfrm>
            <a:off x="5303520" y="4023360"/>
            <a:ext cx="3291840" cy="594360"/>
          </a:xfrm>
          <a:prstGeom prst="rect">
            <a:avLst/>
          </a:prstGeom>
          <a:noFill/>
          <a:ln/>
        </p:spPr>
        <p:txBody>
          <a:bodyPr wrap="square" lIns="0" tIns="0" rIns="0" bIns="0" rtlCol="0" anchor="t"/>
          <a:lstStyle/>
          <a:p>
            <a:pPr marL="0" indent="0">
              <a:buNone/>
            </a:pPr>
            <a:r>
              <a:rPr lang="en-US" sz="1200" dirty="0">
                <a:solidFill>
                  <a:schemeClr val="tx1"/>
                </a:solidFill>
              </a:rPr>
              <a:t>Also: validation curve for SVM C; feature selection (mutual information, k=14) lifts the SVM to 0.494</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Tuned tree ensembles lead</a:t>
            </a:r>
            <a:endParaRPr lang="en-US" sz="3000" dirty="0"/>
          </a:p>
        </p:txBody>
      </p:sp>
      <p:graphicFrame>
        <p:nvGraphicFramePr>
          <p:cNvPr id="3" name="Chart 0"/>
          <p:cNvGraphicFramePr/>
          <p:nvPr/>
        </p:nvGraphicFramePr>
        <p:xfrm>
          <a:off x="457200" y="1143000"/>
          <a:ext cx="5394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st8a_num"/>
          <p:cNvSpPr txBox="1"/>
          <p:nvPr/>
        </p:nvSpPr>
        <p:spPr>
          <a:xfrm>
            <a:off x="6172200" y="1234440"/>
            <a:ext cx="2468880" cy="566928"/>
          </a:xfrm>
          <a:prstGeom prst="rect">
            <a:avLst/>
          </a:prstGeom>
          <a:noFill/>
          <a:ln/>
        </p:spPr>
        <p:txBody>
          <a:bodyPr wrap="square" lIns="0" tIns="0" rIns="0" bIns="0" rtlCol="0" anchor="t"/>
          <a:lstStyle/>
          <a:p>
            <a:pPr marL="0" indent="0">
              <a:buNone/>
            </a:pPr>
            <a:r>
              <a:rPr lang="en-US" sz="3400" b="1" dirty="0">
                <a:solidFill>
                  <a:schemeClr val="accent1"/>
                </a:solidFill>
                <a:latin typeface="Cambria" pitchFamily="34" charset="0"/>
                <a:ea typeface="Cambria" pitchFamily="34" charset="-122"/>
                <a:cs typeface="Cambria" pitchFamily="34" charset="-120"/>
              </a:rPr>
              <a:t>0.527</a:t>
            </a:r>
            <a:endParaRPr lang="en-US" sz="3400" dirty="0"/>
          </a:p>
        </p:txBody>
      </p:sp>
      <p:sp>
        <p:nvSpPr>
          <p:cNvPr id="5" name="st8a_lbl"/>
          <p:cNvSpPr txBox="1"/>
          <p:nvPr/>
        </p:nvSpPr>
        <p:spPr>
          <a:xfrm>
            <a:off x="6172200" y="1801368"/>
            <a:ext cx="2468880" cy="502920"/>
          </a:xfrm>
          <a:prstGeom prst="rect">
            <a:avLst/>
          </a:prstGeom>
          <a:noFill/>
          <a:ln/>
        </p:spPr>
        <p:txBody>
          <a:bodyPr wrap="square" lIns="0" tIns="0" rIns="0" bIns="0" rtlCol="0" anchor="t"/>
          <a:lstStyle/>
          <a:p>
            <a:pPr marL="0" indent="0">
              <a:buNone/>
            </a:pPr>
            <a:r>
              <a:rPr lang="en-US" sz="1300" dirty="0">
                <a:solidFill>
                  <a:schemeClr val="tx1"/>
                </a:solidFill>
              </a:rPr>
              <a:t>CV accuracy, final Random Forest</a:t>
            </a:r>
            <a:endParaRPr lang="en-US" sz="1300" dirty="0"/>
          </a:p>
        </p:txBody>
      </p:sp>
      <p:sp>
        <p:nvSpPr>
          <p:cNvPr id="6" name="st8b_num"/>
          <p:cNvSpPr txBox="1"/>
          <p:nvPr/>
        </p:nvSpPr>
        <p:spPr>
          <a:xfrm>
            <a:off x="6172200" y="2377440"/>
            <a:ext cx="2468880" cy="566928"/>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0.551</a:t>
            </a:r>
            <a:endParaRPr lang="en-US" sz="3400" dirty="0"/>
          </a:p>
        </p:txBody>
      </p:sp>
      <p:sp>
        <p:nvSpPr>
          <p:cNvPr id="7" name="st8b_lbl"/>
          <p:cNvSpPr txBox="1"/>
          <p:nvPr/>
        </p:nvSpPr>
        <p:spPr>
          <a:xfrm>
            <a:off x="6172200" y="2944368"/>
            <a:ext cx="2468880" cy="502920"/>
          </a:xfrm>
          <a:prstGeom prst="rect">
            <a:avLst/>
          </a:prstGeom>
          <a:noFill/>
          <a:ln/>
        </p:spPr>
        <p:txBody>
          <a:bodyPr wrap="square" lIns="0" tIns="0" rIns="0" bIns="0" rtlCol="0" anchor="t"/>
          <a:lstStyle/>
          <a:p>
            <a:pPr marL="0" indent="0">
              <a:buNone/>
            </a:pPr>
            <a:r>
              <a:rPr lang="en-US" sz="1300" dirty="0">
                <a:solidFill>
                  <a:schemeClr val="tx1"/>
                </a:solidFill>
              </a:rPr>
              <a:t>test accuracy (macro-F1 0.548)</a:t>
            </a:r>
            <a:endParaRPr lang="en-US" sz="1300" dirty="0"/>
          </a:p>
        </p:txBody>
      </p:sp>
      <p:sp>
        <p:nvSpPr>
          <p:cNvPr id="8" name="st8c_num"/>
          <p:cNvSpPr txBox="1"/>
          <p:nvPr/>
        </p:nvSpPr>
        <p:spPr>
          <a:xfrm>
            <a:off x="6172200" y="3520440"/>
            <a:ext cx="2468880" cy="566928"/>
          </a:xfrm>
          <a:prstGeom prst="rect">
            <a:avLst/>
          </a:prstGeom>
          <a:noFill/>
          <a:ln/>
        </p:spPr>
        <p:txBody>
          <a:bodyPr wrap="square" lIns="0" tIns="0" rIns="0" bIns="0" rtlCol="0" anchor="t"/>
          <a:lstStyle/>
          <a:p>
            <a:pPr marL="0" indent="0">
              <a:buNone/>
            </a:pPr>
            <a:r>
              <a:rPr lang="en-US" sz="3400" b="1" dirty="0">
                <a:solidFill>
                  <a:schemeClr val="accent4"/>
                </a:solidFill>
                <a:latin typeface="Cambria" pitchFamily="34" charset="0"/>
                <a:ea typeface="Cambria" pitchFamily="34" charset="-122"/>
                <a:cs typeface="Cambria" pitchFamily="34" charset="-120"/>
              </a:rPr>
              <a:t>0.779</a:t>
            </a:r>
            <a:endParaRPr lang="en-US" sz="3400" dirty="0"/>
          </a:p>
        </p:txBody>
      </p:sp>
      <p:sp>
        <p:nvSpPr>
          <p:cNvPr id="9" name="st8c_lbl"/>
          <p:cNvSpPr txBox="1"/>
          <p:nvPr/>
        </p:nvSpPr>
        <p:spPr>
          <a:xfrm>
            <a:off x="6172200" y="4087368"/>
            <a:ext cx="2468880" cy="502920"/>
          </a:xfrm>
          <a:prstGeom prst="rect">
            <a:avLst/>
          </a:prstGeom>
          <a:noFill/>
          <a:ln/>
        </p:spPr>
        <p:txBody>
          <a:bodyPr wrap="square" lIns="0" tIns="0" rIns="0" bIns="0" rtlCol="0" anchor="t"/>
          <a:lstStyle/>
          <a:p>
            <a:pPr marL="0" indent="0">
              <a:buNone/>
            </a:pPr>
            <a:r>
              <a:rPr lang="en-US" sz="1300" dirty="0">
                <a:solidFill>
                  <a:schemeClr val="tx1"/>
                </a:solidFill>
              </a:rPr>
              <a:t>test top-3 accuracy (chance 0.077)</a:t>
            </a:r>
            <a:endParaRPr lang="en-US" sz="13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What drives it, what confuses it</a:t>
            </a:r>
            <a:endParaRPr lang="en-US" sz="3000" dirty="0"/>
          </a:p>
        </p:txBody>
      </p:sp>
      <p:graphicFrame>
        <p:nvGraphicFramePr>
          <p:cNvPr id="3" name="Chart 0"/>
          <p:cNvGraphicFramePr/>
          <p:nvPr/>
        </p:nvGraphicFramePr>
        <p:xfrm>
          <a:off x="365760" y="1097280"/>
          <a:ext cx="4023360" cy="3017520"/>
        </p:xfrm>
        <a:graphic>
          <a:graphicData uri="http://schemas.openxmlformats.org/drawingml/2006/chart">
            <c:chart xmlns:c="http://schemas.openxmlformats.org/drawingml/2006/chart" xmlns:r="http://schemas.openxmlformats.org/officeDocument/2006/relationships" r:id="rId3"/>
          </a:graphicData>
        </a:graphic>
      </p:graphicFrame>
      <p:pic>
        <p:nvPicPr>
          <p:cNvPr id="4" name="Image 0" descr="Normalised confusion matrix of the final Random Forest on the test set"/>
          <p:cNvPicPr>
            <a:picLocks noChangeAspect="1"/>
          </p:cNvPicPr>
          <p:nvPr/>
        </p:nvPicPr>
        <p:blipFill>
          <a:blip r:embed="rId4"/>
          <a:stretch>
            <a:fillRect/>
          </a:stretch>
        </p:blipFill>
        <p:spPr>
          <a:xfrm>
            <a:off x="4526280" y="1097280"/>
            <a:ext cx="4206240" cy="3569205"/>
          </a:xfrm>
          <a:prstGeom prst="rect">
            <a:avLst/>
          </a:prstGeom>
        </p:spPr>
      </p:pic>
      <p:sp>
        <p:nvSpPr>
          <p:cNvPr id="5" name="drivers_note"/>
          <p:cNvSpPr txBox="1"/>
          <p:nvPr/>
        </p:nvSpPr>
        <p:spPr>
          <a:xfrm>
            <a:off x="548640" y="4114800"/>
            <a:ext cx="4023360" cy="594360"/>
          </a:xfrm>
          <a:prstGeom prst="rect">
            <a:avLst/>
          </a:prstGeom>
          <a:noFill/>
          <a:ln/>
        </p:spPr>
        <p:txBody>
          <a:bodyPr wrap="square" lIns="0" tIns="0" rIns="0" bIns="0" rtlCol="0" anchor="t"/>
          <a:lstStyle/>
          <a:p>
            <a:pPr marL="0" indent="0">
              <a:buNone/>
            </a:pPr>
            <a:r>
              <a:rPr lang="en-US" sz="1200" dirty="0">
                <a:solidFill>
                  <a:schemeClr val="tx1"/>
                </a:solidFill>
              </a:rPr>
              <a:t>release_year dominates: several playlists are era-themed. Near-duplicate playlists (Charts 2020 vs 2020 Hits, Neo-Soul vs Urban Contemporary) get mixed up.</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Suggest a new playlist when unsure</a:t>
            </a:r>
            <a:endParaRPr lang="en-US" sz="3000" dirty="0"/>
          </a:p>
        </p:txBody>
      </p:sp>
      <p:graphicFrame>
        <p:nvGraphicFramePr>
          <p:cNvPr id="3" name="Chart 0"/>
          <p:cNvGraphicFramePr/>
          <p:nvPr/>
        </p:nvGraphicFramePr>
        <p:xfrm>
          <a:off x="457200" y="1143000"/>
          <a:ext cx="5394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st10a_num"/>
          <p:cNvSpPr txBox="1"/>
          <p:nvPr/>
        </p:nvSpPr>
        <p:spPr>
          <a:xfrm>
            <a:off x="6172200" y="1234440"/>
            <a:ext cx="2468880" cy="566928"/>
          </a:xfrm>
          <a:prstGeom prst="rect">
            <a:avLst/>
          </a:prstGeom>
          <a:noFill/>
          <a:ln/>
        </p:spPr>
        <p:txBody>
          <a:bodyPr wrap="square" lIns="0" tIns="0" rIns="0" bIns="0" rtlCol="0" anchor="t"/>
          <a:lstStyle/>
          <a:p>
            <a:pPr marL="0" indent="0">
              <a:buNone/>
            </a:pPr>
            <a:r>
              <a:rPr lang="en-US" sz="3400" b="1" dirty="0">
                <a:solidFill>
                  <a:schemeClr val="accent1"/>
                </a:solidFill>
                <a:latin typeface="Cambria" pitchFamily="34" charset="0"/>
                <a:ea typeface="Cambria" pitchFamily="34" charset="-122"/>
                <a:cs typeface="Cambria" pitchFamily="34" charset="-120"/>
              </a:rPr>
              <a:t>0.30</a:t>
            </a:r>
            <a:endParaRPr lang="en-US" sz="3400" dirty="0"/>
          </a:p>
        </p:txBody>
      </p:sp>
      <p:sp>
        <p:nvSpPr>
          <p:cNvPr id="5" name="st10a_lbl"/>
          <p:cNvSpPr txBox="1"/>
          <p:nvPr/>
        </p:nvSpPr>
        <p:spPr>
          <a:xfrm>
            <a:off x="6172200" y="1801368"/>
            <a:ext cx="2468880" cy="502920"/>
          </a:xfrm>
          <a:prstGeom prst="rect">
            <a:avLst/>
          </a:prstGeom>
          <a:noFill/>
          <a:ln/>
        </p:spPr>
        <p:txBody>
          <a:bodyPr wrap="square" lIns="0" tIns="0" rIns="0" bIns="0" rtlCol="0" anchor="t"/>
          <a:lstStyle/>
          <a:p>
            <a:pPr marL="0" indent="0">
              <a:buNone/>
            </a:pPr>
            <a:r>
              <a:rPr lang="en-US" sz="1300" dirty="0">
                <a:solidFill>
                  <a:schemeClr val="tx1"/>
                </a:solidFill>
              </a:rPr>
              <a:t>tuned confidence threshold</a:t>
            </a:r>
            <a:endParaRPr lang="en-US" sz="1300" dirty="0"/>
          </a:p>
        </p:txBody>
      </p:sp>
      <p:sp>
        <p:nvSpPr>
          <p:cNvPr id="6" name="st10b_num"/>
          <p:cNvSpPr txBox="1"/>
          <p:nvPr/>
        </p:nvSpPr>
        <p:spPr>
          <a:xfrm>
            <a:off x="6172200" y="2377440"/>
            <a:ext cx="2468880" cy="566928"/>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71%</a:t>
            </a:r>
            <a:endParaRPr lang="en-US" sz="3400" dirty="0"/>
          </a:p>
        </p:txBody>
      </p:sp>
      <p:sp>
        <p:nvSpPr>
          <p:cNvPr id="7" name="st10b_lbl"/>
          <p:cNvSpPr txBox="1"/>
          <p:nvPr/>
        </p:nvSpPr>
        <p:spPr>
          <a:xfrm>
            <a:off x="6172200" y="2944368"/>
            <a:ext cx="2468880" cy="502920"/>
          </a:xfrm>
          <a:prstGeom prst="rect">
            <a:avLst/>
          </a:prstGeom>
          <a:noFill/>
          <a:ln/>
        </p:spPr>
        <p:txBody>
          <a:bodyPr wrap="square" lIns="0" tIns="0" rIns="0" bIns="0" rtlCol="0" anchor="t"/>
          <a:lstStyle/>
          <a:p>
            <a:pPr marL="0" indent="0">
              <a:buNone/>
            </a:pPr>
            <a:r>
              <a:rPr lang="en-US" sz="1300" dirty="0">
                <a:solidFill>
                  <a:schemeClr val="tx1"/>
                </a:solidFill>
              </a:rPr>
              <a:t>of test songs answered, at 63.5% accuracy (55.1% overall)</a:t>
            </a:r>
            <a:endParaRPr lang="en-US" sz="1300" dirty="0"/>
          </a:p>
        </p:txBody>
      </p:sp>
      <p:sp>
        <p:nvSpPr>
          <p:cNvPr id="8" name="st10c_num"/>
          <p:cNvSpPr txBox="1"/>
          <p:nvPr/>
        </p:nvSpPr>
        <p:spPr>
          <a:xfrm>
            <a:off x="6172200" y="3611880"/>
            <a:ext cx="2468880" cy="566928"/>
          </a:xfrm>
          <a:prstGeom prst="rect">
            <a:avLst/>
          </a:prstGeom>
          <a:noFill/>
          <a:ln/>
        </p:spPr>
        <p:txBody>
          <a:bodyPr wrap="square" lIns="0" tIns="0" rIns="0" bIns="0" rtlCol="0" anchor="t"/>
          <a:lstStyle/>
          <a:p>
            <a:pPr marL="0" indent="0">
              <a:buNone/>
            </a:pPr>
            <a:r>
              <a:rPr lang="en-US" sz="3400" b="1" dirty="0">
                <a:solidFill>
                  <a:schemeClr val="accent4"/>
                </a:solidFill>
                <a:latin typeface="Cambria" pitchFamily="34" charset="0"/>
                <a:ea typeface="Cambria" pitchFamily="34" charset="-122"/>
                <a:cs typeface="Cambria" pitchFamily="34" charset="-120"/>
              </a:rPr>
              <a:t>0.46</a:t>
            </a:r>
            <a:endParaRPr lang="en-US" sz="3400" dirty="0"/>
          </a:p>
        </p:txBody>
      </p:sp>
      <p:sp>
        <p:nvSpPr>
          <p:cNvPr id="9" name="st10c_lbl"/>
          <p:cNvSpPr txBox="1"/>
          <p:nvPr/>
        </p:nvSpPr>
        <p:spPr>
          <a:xfrm>
            <a:off x="6172200" y="4178808"/>
            <a:ext cx="2468880" cy="502920"/>
          </a:xfrm>
          <a:prstGeom prst="rect">
            <a:avLst/>
          </a:prstGeom>
          <a:noFill/>
          <a:ln/>
        </p:spPr>
        <p:txBody>
          <a:bodyPr wrap="square" lIns="0" tIns="0" rIns="0" bIns="0" rtlCol="0" anchor="t"/>
          <a:lstStyle/>
          <a:p>
            <a:pPr marL="0" indent="0">
              <a:buNone/>
            </a:pPr>
            <a:r>
              <a:rPr lang="en-US" sz="1300" dirty="0">
                <a:solidFill>
                  <a:schemeClr val="tx1"/>
                </a:solidFill>
              </a:rPr>
              <a:t>accuracy on 2,422 unseen songs (top-3: 0.74)</a:t>
            </a:r>
            <a:endParaRPr lang="en-US" sz="13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Live demo: Streamlit app</a:t>
            </a:r>
            <a:endParaRPr lang="en-US" sz="3000" dirty="0"/>
          </a:p>
        </p:txBody>
      </p:sp>
      <p:sp>
        <p:nvSpPr>
          <p:cNvPr id="3" name="demo_0"/>
          <p:cNvSpPr/>
          <p:nvPr/>
        </p:nvSpPr>
        <p:spPr>
          <a:xfrm>
            <a:off x="548640" y="1280160"/>
            <a:ext cx="548640" cy="548640"/>
          </a:xfrm>
          <a:prstGeom prst="ellipse">
            <a:avLst/>
          </a:prstGeom>
          <a:solidFill>
            <a:schemeClr val="accent1"/>
          </a:solidFill>
          <a:ln/>
        </p:spPr>
      </p:sp>
      <p:sp>
        <p:nvSpPr>
          <p:cNvPr id="4" name="demo_0_label"/>
          <p:cNvSpPr txBox="1"/>
          <p:nvPr/>
        </p:nvSpPr>
        <p:spPr>
          <a:xfrm>
            <a:off x="548640" y="12801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demoh_0"/>
          <p:cNvSpPr txBox="1"/>
          <p:nvPr/>
        </p:nvSpPr>
        <p:spPr>
          <a:xfrm>
            <a:off x="1325880" y="1280160"/>
            <a:ext cx="29260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Set a song's features</a:t>
            </a:r>
            <a:endParaRPr lang="en-US" sz="1800" dirty="0"/>
          </a:p>
        </p:txBody>
      </p:sp>
      <p:sp>
        <p:nvSpPr>
          <p:cNvPr id="6" name="demob_0"/>
          <p:cNvSpPr txBox="1"/>
          <p:nvPr/>
        </p:nvSpPr>
        <p:spPr>
          <a:xfrm>
            <a:off x="1325880" y="1627632"/>
            <a:ext cx="2926080" cy="457200"/>
          </a:xfrm>
          <a:prstGeom prst="rect">
            <a:avLst/>
          </a:prstGeom>
          <a:noFill/>
          <a:ln/>
        </p:spPr>
        <p:txBody>
          <a:bodyPr wrap="square" lIns="0" tIns="0" rIns="0" bIns="0" rtlCol="0" anchor="t"/>
          <a:lstStyle/>
          <a:p>
            <a:pPr marL="0" indent="0">
              <a:buNone/>
            </a:pPr>
            <a:r>
              <a:rPr lang="en-US" sz="1400" dirty="0">
                <a:solidFill>
                  <a:schemeClr val="tx1"/>
                </a:solidFill>
              </a:rPr>
              <a:t>sliders for audio features and metadata</a:t>
            </a:r>
            <a:endParaRPr lang="en-US" sz="1400" dirty="0"/>
          </a:p>
        </p:txBody>
      </p:sp>
      <p:sp>
        <p:nvSpPr>
          <p:cNvPr id="7" name="demo_1"/>
          <p:cNvSpPr/>
          <p:nvPr/>
        </p:nvSpPr>
        <p:spPr>
          <a:xfrm>
            <a:off x="548640" y="2377440"/>
            <a:ext cx="548640" cy="548640"/>
          </a:xfrm>
          <a:prstGeom prst="ellipse">
            <a:avLst/>
          </a:prstGeom>
          <a:solidFill>
            <a:schemeClr val="accent1"/>
          </a:solidFill>
          <a:ln/>
        </p:spPr>
      </p:sp>
      <p:sp>
        <p:nvSpPr>
          <p:cNvPr id="8" name="demo_1_label"/>
          <p:cNvSpPr txBox="1"/>
          <p:nvPr/>
        </p:nvSpPr>
        <p:spPr>
          <a:xfrm>
            <a:off x="548640" y="237744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demoh_1"/>
          <p:cNvSpPr txBox="1"/>
          <p:nvPr/>
        </p:nvSpPr>
        <p:spPr>
          <a:xfrm>
            <a:off x="1325880" y="2377440"/>
            <a:ext cx="29260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Click Suggest playlist</a:t>
            </a:r>
            <a:endParaRPr lang="en-US" sz="1800" dirty="0"/>
          </a:p>
        </p:txBody>
      </p:sp>
      <p:sp>
        <p:nvSpPr>
          <p:cNvPr id="10" name="demob_1"/>
          <p:cNvSpPr txBox="1"/>
          <p:nvPr/>
        </p:nvSpPr>
        <p:spPr>
          <a:xfrm>
            <a:off x="1325880" y="2724912"/>
            <a:ext cx="2926080" cy="457200"/>
          </a:xfrm>
          <a:prstGeom prst="rect">
            <a:avLst/>
          </a:prstGeom>
          <a:noFill/>
          <a:ln/>
        </p:spPr>
        <p:txBody>
          <a:bodyPr wrap="square" lIns="0" tIns="0" rIns="0" bIns="0" rtlCol="0" anchor="t"/>
          <a:lstStyle/>
          <a:p>
            <a:pPr marL="0" indent="0">
              <a:buNone/>
            </a:pPr>
            <a:r>
              <a:rPr lang="en-US" sz="1400" dirty="0">
                <a:solidFill>
                  <a:schemeClr val="tx1"/>
                </a:solidFill>
              </a:rPr>
              <a:t>runs the saved Random Forest</a:t>
            </a:r>
            <a:endParaRPr lang="en-US" sz="1400" dirty="0"/>
          </a:p>
        </p:txBody>
      </p:sp>
      <p:sp>
        <p:nvSpPr>
          <p:cNvPr id="11" name="demo_2"/>
          <p:cNvSpPr/>
          <p:nvPr/>
        </p:nvSpPr>
        <p:spPr>
          <a:xfrm>
            <a:off x="548640" y="3474720"/>
            <a:ext cx="548640" cy="548640"/>
          </a:xfrm>
          <a:prstGeom prst="ellipse">
            <a:avLst/>
          </a:prstGeom>
          <a:solidFill>
            <a:schemeClr val="accent2"/>
          </a:solidFill>
          <a:ln/>
        </p:spPr>
      </p:sp>
      <p:sp>
        <p:nvSpPr>
          <p:cNvPr id="12" name="demo_2_label"/>
          <p:cNvSpPr txBox="1"/>
          <p:nvPr/>
        </p:nvSpPr>
        <p:spPr>
          <a:xfrm>
            <a:off x="548640" y="34747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demoh_2"/>
          <p:cNvSpPr txBox="1"/>
          <p:nvPr/>
        </p:nvSpPr>
        <p:spPr>
          <a:xfrm>
            <a:off x="1325880" y="3474720"/>
            <a:ext cx="29260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Read the result</a:t>
            </a:r>
            <a:endParaRPr lang="en-US" sz="1800" dirty="0"/>
          </a:p>
        </p:txBody>
      </p:sp>
      <p:sp>
        <p:nvSpPr>
          <p:cNvPr id="14" name="demob_2"/>
          <p:cNvSpPr txBox="1"/>
          <p:nvPr/>
        </p:nvSpPr>
        <p:spPr>
          <a:xfrm>
            <a:off x="1325880" y="3822192"/>
            <a:ext cx="2926080" cy="457200"/>
          </a:xfrm>
          <a:prstGeom prst="rect">
            <a:avLst/>
          </a:prstGeom>
          <a:noFill/>
          <a:ln/>
        </p:spPr>
        <p:txBody>
          <a:bodyPr wrap="square" lIns="0" tIns="0" rIns="0" bIns="0" rtlCol="0" anchor="t"/>
          <a:lstStyle/>
          <a:p>
            <a:pPr marL="0" indent="0">
              <a:buNone/>
            </a:pPr>
            <a:r>
              <a:rPr lang="en-US" sz="1400" dirty="0">
                <a:solidFill>
                  <a:schemeClr val="tx1"/>
                </a:solidFill>
              </a:rPr>
              <a:t>top-3 playlists, or a new-playlist suggestion</a:t>
            </a:r>
            <a:endParaRPr lang="en-US" sz="1400" dirty="0"/>
          </a:p>
        </p:txBody>
      </p:sp>
      <p:sp>
        <p:nvSpPr>
          <p:cNvPr id="15" name="ex_ok"/>
          <p:cNvSpPr/>
          <p:nvPr/>
        </p:nvSpPr>
        <p:spPr>
          <a:xfrm>
            <a:off x="4663440" y="1280160"/>
            <a:ext cx="3931920" cy="1417320"/>
          </a:xfrm>
          <a:prstGeom prst="roundRect">
            <a:avLst>
              <a:gd name="adj" fmla="val 7742"/>
            </a:avLst>
          </a:prstGeom>
          <a:solidFill>
            <a:schemeClr val="bg2"/>
          </a:solidFill>
          <a:ln/>
        </p:spPr>
      </p:sp>
      <p:sp>
        <p:nvSpPr>
          <p:cNvPr id="16" name="ex_ok_t"/>
          <p:cNvSpPr txBox="1"/>
          <p:nvPr/>
        </p:nvSpPr>
        <p:spPr>
          <a:xfrm>
            <a:off x="4846320" y="1389888"/>
            <a:ext cx="3566160" cy="274320"/>
          </a:xfrm>
          <a:prstGeom prst="rect">
            <a:avLst/>
          </a:prstGeom>
          <a:noFill/>
          <a:ln/>
        </p:spPr>
        <p:txBody>
          <a:bodyPr wrap="square" lIns="0" tIns="0" rIns="0" bIns="0" rtlCol="0" anchor="t"/>
          <a:lstStyle/>
          <a:p>
            <a:pPr marL="0" indent="0">
              <a:buNone/>
            </a:pPr>
            <a:r>
              <a:rPr lang="en-US" sz="1400" b="1" dirty="0">
                <a:solidFill>
                  <a:schemeClr val="tx1"/>
                </a:solidFill>
              </a:rPr>
              <a:t>Lucky - Radiohead</a:t>
            </a:r>
            <a:endParaRPr lang="en-US" sz="1400" dirty="0"/>
          </a:p>
        </p:txBody>
      </p:sp>
      <p:sp>
        <p:nvSpPr>
          <p:cNvPr id="17" name="ex_ok_r"/>
          <p:cNvSpPr txBox="1"/>
          <p:nvPr/>
        </p:nvSpPr>
        <p:spPr>
          <a:xfrm>
            <a:off x="4846320" y="1755648"/>
            <a:ext cx="3566160" cy="320040"/>
          </a:xfrm>
          <a:prstGeom prst="rect">
            <a:avLst/>
          </a:prstGeom>
          <a:noFill/>
          <a:ln/>
        </p:spPr>
        <p:txBody>
          <a:bodyPr wrap="square" lIns="0" tIns="0" rIns="0" bIns="0" rtlCol="0" anchor="t"/>
          <a:lstStyle/>
          <a:p>
            <a:pPr marL="0" indent="0">
              <a:buNone/>
            </a:pPr>
            <a:r>
              <a:rPr lang="en-US" sz="1600" b="1" dirty="0">
                <a:solidFill>
                  <a:schemeClr val="accent2"/>
                </a:solidFill>
              </a:rPr>
              <a:t>Best match: Permanent Wave (81%)</a:t>
            </a:r>
            <a:endParaRPr lang="en-US" sz="1600" dirty="0"/>
          </a:p>
        </p:txBody>
      </p:sp>
      <p:sp>
        <p:nvSpPr>
          <p:cNvPr id="18" name="ex_ok_s"/>
          <p:cNvSpPr txBox="1"/>
          <p:nvPr/>
        </p:nvSpPr>
        <p:spPr>
          <a:xfrm>
            <a:off x="4846320" y="2194560"/>
            <a:ext cx="3566160" cy="274320"/>
          </a:xfrm>
          <a:prstGeom prst="rect">
            <a:avLst/>
          </a:prstGeom>
          <a:noFill/>
          <a:ln/>
        </p:spPr>
        <p:txBody>
          <a:bodyPr wrap="square" lIns="0" tIns="0" rIns="0" bIns="0" rtlCol="0" anchor="t"/>
          <a:lstStyle/>
          <a:p>
            <a:pPr marL="0" indent="0">
              <a:buNone/>
            </a:pPr>
            <a:r>
              <a:rPr lang="en-US" sz="1200" dirty="0">
                <a:solidFill>
                  <a:schemeClr val="accent5"/>
                </a:solidFill>
              </a:rPr>
              <a:t>true playlist: Permanent Wave</a:t>
            </a:r>
            <a:endParaRPr lang="en-US" sz="1200" dirty="0"/>
          </a:p>
        </p:txBody>
      </p:sp>
      <p:sp>
        <p:nvSpPr>
          <p:cNvPr id="19" name="ex_low"/>
          <p:cNvSpPr/>
          <p:nvPr/>
        </p:nvSpPr>
        <p:spPr>
          <a:xfrm>
            <a:off x="4663440" y="2880360"/>
            <a:ext cx="3931920" cy="1600200"/>
          </a:xfrm>
          <a:prstGeom prst="roundRect">
            <a:avLst>
              <a:gd name="adj" fmla="val 6857"/>
            </a:avLst>
          </a:prstGeom>
          <a:solidFill>
            <a:schemeClr val="bg2"/>
          </a:solidFill>
          <a:ln/>
        </p:spPr>
      </p:sp>
      <p:sp>
        <p:nvSpPr>
          <p:cNvPr id="20" name="ex_low_t"/>
          <p:cNvSpPr txBox="1"/>
          <p:nvPr/>
        </p:nvSpPr>
        <p:spPr>
          <a:xfrm>
            <a:off x="4846320" y="2990088"/>
            <a:ext cx="3566160" cy="274320"/>
          </a:xfrm>
          <a:prstGeom prst="rect">
            <a:avLst/>
          </a:prstGeom>
          <a:noFill/>
          <a:ln/>
        </p:spPr>
        <p:txBody>
          <a:bodyPr wrap="square" lIns="0" tIns="0" rIns="0" bIns="0" rtlCol="0" anchor="t"/>
          <a:lstStyle/>
          <a:p>
            <a:pPr marL="0" indent="0">
              <a:buNone/>
            </a:pPr>
            <a:r>
              <a:rPr lang="en-US" sz="1400" b="1" dirty="0">
                <a:solidFill>
                  <a:schemeClr val="tx1"/>
                </a:solidFill>
              </a:rPr>
              <a:t>Shape of You - Ed Sheeran</a:t>
            </a:r>
            <a:endParaRPr lang="en-US" sz="1400" dirty="0"/>
          </a:p>
        </p:txBody>
      </p:sp>
      <p:sp>
        <p:nvSpPr>
          <p:cNvPr id="21" name="ex_low_r"/>
          <p:cNvSpPr txBox="1"/>
          <p:nvPr/>
        </p:nvSpPr>
        <p:spPr>
          <a:xfrm>
            <a:off x="4846320" y="3355848"/>
            <a:ext cx="3566160" cy="320040"/>
          </a:xfrm>
          <a:prstGeom prst="rect">
            <a:avLst/>
          </a:prstGeom>
          <a:noFill/>
          <a:ln/>
        </p:spPr>
        <p:txBody>
          <a:bodyPr wrap="square" lIns="0" tIns="0" rIns="0" bIns="0" rtlCol="0" anchor="t"/>
          <a:lstStyle/>
          <a:p>
            <a:pPr marL="0" indent="0">
              <a:buNone/>
            </a:pPr>
            <a:r>
              <a:rPr lang="en-US" sz="1600" b="1" dirty="0">
                <a:solidFill>
                  <a:schemeClr val="accent1"/>
                </a:solidFill>
              </a:rPr>
              <a:t>Low confidence (top: 19%)</a:t>
            </a:r>
            <a:endParaRPr lang="en-US" sz="1600" dirty="0"/>
          </a:p>
        </p:txBody>
      </p:sp>
      <p:sp>
        <p:nvSpPr>
          <p:cNvPr id="22" name="ex_low_n"/>
          <p:cNvSpPr txBox="1"/>
          <p:nvPr/>
        </p:nvSpPr>
        <p:spPr>
          <a:xfrm>
            <a:off x="4846320" y="3721608"/>
            <a:ext cx="3566160" cy="274320"/>
          </a:xfrm>
          <a:prstGeom prst="rect">
            <a:avLst/>
          </a:prstGeom>
          <a:noFill/>
          <a:ln/>
        </p:spPr>
        <p:txBody>
          <a:bodyPr wrap="square" lIns="0" tIns="0" rIns="0" bIns="0" rtlCol="0" anchor="t"/>
          <a:lstStyle/>
          <a:p>
            <a:pPr marL="0" indent="0">
              <a:buNone/>
            </a:pPr>
            <a:r>
              <a:rPr lang="en-US" sz="1400" dirty="0">
                <a:solidFill>
                  <a:schemeClr val="tx1"/>
                </a:solidFill>
              </a:rPr>
              <a:t>Suggest a NEW playlist</a:t>
            </a:r>
            <a:endParaRPr lang="en-US" sz="1400" dirty="0"/>
          </a:p>
        </p:txBody>
      </p:sp>
      <p:sp>
        <p:nvSpPr>
          <p:cNvPr id="23" name="ex_low_s"/>
          <p:cNvSpPr txBox="1"/>
          <p:nvPr/>
        </p:nvSpPr>
        <p:spPr>
          <a:xfrm>
            <a:off x="4846320" y="4114800"/>
            <a:ext cx="3566160" cy="274320"/>
          </a:xfrm>
          <a:prstGeom prst="rect">
            <a:avLst/>
          </a:prstGeom>
          <a:noFill/>
          <a:ln/>
        </p:spPr>
        <p:txBody>
          <a:bodyPr wrap="square" lIns="0" tIns="0" rIns="0" bIns="0" rtlCol="0" anchor="t"/>
          <a:lstStyle/>
          <a:p>
            <a:pPr marL="0" indent="0">
              <a:buNone/>
            </a:pPr>
            <a:r>
              <a:rPr lang="en-US" sz="1200" dirty="0">
                <a:solidFill>
                  <a:schemeClr val="accent5"/>
                </a:solidFill>
              </a:rPr>
              <a:t>songs never used in training</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Team contributions</a:t>
            </a:r>
            <a:endParaRPr lang="en-US" sz="3000" dirty="0"/>
          </a:p>
        </p:txBody>
      </p:sp>
      <p:sp>
        <p:nvSpPr>
          <p:cNvPr id="3" name="team_card_0"/>
          <p:cNvSpPr/>
          <p:nvPr/>
        </p:nvSpPr>
        <p:spPr>
          <a:xfrm>
            <a:off x="548640" y="1234440"/>
            <a:ext cx="3931920" cy="2834640"/>
          </a:xfrm>
          <a:prstGeom prst="roundRect">
            <a:avLst>
              <a:gd name="adj" fmla="val 3871"/>
            </a:avLst>
          </a:prstGeom>
          <a:solidFill>
            <a:schemeClr val="bg2"/>
          </a:solidFill>
          <a:ln/>
        </p:spPr>
      </p:sp>
      <p:sp>
        <p:nvSpPr>
          <p:cNvPr id="4" name="team_dot_0"/>
          <p:cNvSpPr/>
          <p:nvPr/>
        </p:nvSpPr>
        <p:spPr>
          <a:xfrm>
            <a:off x="777240" y="1417320"/>
            <a:ext cx="457200" cy="457200"/>
          </a:xfrm>
          <a:prstGeom prst="ellipse">
            <a:avLst/>
          </a:prstGeom>
          <a:solidFill>
            <a:schemeClr val="accent1"/>
          </a:solidFill>
          <a:ln/>
        </p:spPr>
      </p:sp>
      <p:sp>
        <p:nvSpPr>
          <p:cNvPr id="5" name="team_n_0"/>
          <p:cNvSpPr txBox="1"/>
          <p:nvPr/>
        </p:nvSpPr>
        <p:spPr>
          <a:xfrm>
            <a:off x="1417320" y="1389888"/>
            <a:ext cx="29260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Rekha Dhorigol</a:t>
            </a:r>
            <a:endParaRPr lang="en-US" sz="1800" dirty="0"/>
          </a:p>
        </p:txBody>
      </p:sp>
      <p:sp>
        <p:nvSpPr>
          <p:cNvPr id="6" name="team_s_0"/>
          <p:cNvSpPr txBox="1"/>
          <p:nvPr/>
        </p:nvSpPr>
        <p:spPr>
          <a:xfrm>
            <a:off x="1417320" y="1709928"/>
            <a:ext cx="2926080" cy="228600"/>
          </a:xfrm>
          <a:prstGeom prst="rect">
            <a:avLst/>
          </a:prstGeom>
          <a:noFill/>
          <a:ln/>
        </p:spPr>
        <p:txBody>
          <a:bodyPr wrap="square" lIns="0" tIns="0" rIns="0" bIns="0" rtlCol="0" anchor="t"/>
          <a:lstStyle/>
          <a:p>
            <a:pPr marL="0" indent="0">
              <a:buNone/>
            </a:pPr>
            <a:r>
              <a:rPr lang="en-US" sz="1200" dirty="0">
                <a:solidFill>
                  <a:schemeClr val="accent5"/>
                </a:solidFill>
              </a:rPr>
              <a:t>PES1UG24CS370</a:t>
            </a:r>
            <a:endParaRPr lang="en-US" sz="1200" dirty="0"/>
          </a:p>
        </p:txBody>
      </p:sp>
      <p:sp>
        <p:nvSpPr>
          <p:cNvPr id="7" name="team_b_0"/>
          <p:cNvSpPr txBox="1"/>
          <p:nvPr/>
        </p:nvSpPr>
        <p:spPr>
          <a:xfrm>
            <a:off x="822960" y="2148840"/>
            <a:ext cx="347472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Features and split (7)</a:t>
            </a:r>
            <a:endParaRPr lang="en-US" sz="1300" dirty="0"/>
          </a:p>
          <a:p>
            <a:pPr marL="342900" indent="-342900">
              <a:spcAft>
                <a:spcPts val="600"/>
              </a:spcAft>
              <a:buSzPct val="100000"/>
              <a:buChar char="•"/>
            </a:pPr>
            <a:r>
              <a:rPr lang="en-US" sz="1300" dirty="0">
                <a:solidFill>
                  <a:schemeClr val="tx1"/>
                </a:solidFill>
              </a:rPr>
              <a:t>Hyperparameter tuning (9)</a:t>
            </a:r>
            <a:endParaRPr lang="en-US" sz="1300" dirty="0"/>
          </a:p>
          <a:p>
            <a:pPr marL="342900" indent="-342900">
              <a:spcAft>
                <a:spcPts val="600"/>
              </a:spcAft>
              <a:buSzPct val="100000"/>
              <a:buChar char="•"/>
            </a:pPr>
            <a:r>
              <a:rPr lang="en-US" sz="1300" dirty="0">
                <a:solidFill>
                  <a:schemeClr val="tx1"/>
                </a:solidFill>
              </a:rPr>
              <a:t>Model comparison, final model, ablation (12)</a:t>
            </a:r>
            <a:endParaRPr lang="en-US" sz="1300" dirty="0"/>
          </a:p>
          <a:p>
            <a:pPr marL="342900" indent="-342900">
              <a:spcAft>
                <a:spcPts val="600"/>
              </a:spcAft>
              <a:buSzPct val="100000"/>
              <a:buChar char="•"/>
            </a:pPr>
            <a:r>
              <a:rPr lang="en-US" sz="1300" dirty="0">
                <a:solidFill>
                  <a:schemeClr val="tx1"/>
                </a:solidFill>
              </a:rPr>
              <a:t>Explainability (14)</a:t>
            </a:r>
            <a:endParaRPr lang="en-US" sz="1300" dirty="0"/>
          </a:p>
          <a:p>
            <a:pPr marL="342900" indent="-342900">
              <a:spcAft>
                <a:spcPts val="600"/>
              </a:spcAft>
              <a:buSzPct val="100000"/>
              <a:buChar char="•"/>
            </a:pPr>
            <a:r>
              <a:rPr lang="en-US" sz="1300" dirty="0">
                <a:solidFill>
                  <a:schemeClr val="tx1"/>
                </a:solidFill>
              </a:rPr>
              <a:t>Abstain rule, saved model, demo (15, 16)</a:t>
            </a:r>
            <a:endParaRPr lang="en-US" sz="1300" dirty="0"/>
          </a:p>
          <a:p>
            <a:pPr marL="342900" indent="-342900">
              <a:spcAft>
                <a:spcPts val="600"/>
              </a:spcAft>
              <a:buSzPct val="100000"/>
              <a:buChar char="•"/>
            </a:pPr>
            <a:r>
              <a:rPr lang="en-US" sz="1300" dirty="0">
                <a:solidFill>
                  <a:schemeClr val="tx1"/>
                </a:solidFill>
              </a:rPr>
              <a:t>Streamlit app, README</a:t>
            </a:r>
            <a:endParaRPr lang="en-US" sz="1300" dirty="0"/>
          </a:p>
        </p:txBody>
      </p:sp>
      <p:sp>
        <p:nvSpPr>
          <p:cNvPr id="8" name="team_card_1"/>
          <p:cNvSpPr/>
          <p:nvPr/>
        </p:nvSpPr>
        <p:spPr>
          <a:xfrm>
            <a:off x="4663440" y="1234440"/>
            <a:ext cx="3931920" cy="2834640"/>
          </a:xfrm>
          <a:prstGeom prst="roundRect">
            <a:avLst>
              <a:gd name="adj" fmla="val 3871"/>
            </a:avLst>
          </a:prstGeom>
          <a:solidFill>
            <a:schemeClr val="bg2"/>
          </a:solidFill>
          <a:ln/>
        </p:spPr>
      </p:sp>
      <p:sp>
        <p:nvSpPr>
          <p:cNvPr id="9" name="team_dot_1"/>
          <p:cNvSpPr/>
          <p:nvPr/>
        </p:nvSpPr>
        <p:spPr>
          <a:xfrm>
            <a:off x="4892040" y="1417320"/>
            <a:ext cx="457200" cy="457200"/>
          </a:xfrm>
          <a:prstGeom prst="ellipse">
            <a:avLst/>
          </a:prstGeom>
          <a:solidFill>
            <a:schemeClr val="accent2"/>
          </a:solidFill>
          <a:ln/>
        </p:spPr>
      </p:sp>
      <p:sp>
        <p:nvSpPr>
          <p:cNvPr id="10" name="team_n_1"/>
          <p:cNvSpPr txBox="1"/>
          <p:nvPr/>
        </p:nvSpPr>
        <p:spPr>
          <a:xfrm>
            <a:off x="5532120" y="1389888"/>
            <a:ext cx="29260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Sai Manogna B V</a:t>
            </a:r>
            <a:endParaRPr lang="en-US" sz="1800" dirty="0"/>
          </a:p>
        </p:txBody>
      </p:sp>
      <p:sp>
        <p:nvSpPr>
          <p:cNvPr id="11" name="team_s_1"/>
          <p:cNvSpPr txBox="1"/>
          <p:nvPr/>
        </p:nvSpPr>
        <p:spPr>
          <a:xfrm>
            <a:off x="5532120" y="1709928"/>
            <a:ext cx="2926080" cy="228600"/>
          </a:xfrm>
          <a:prstGeom prst="rect">
            <a:avLst/>
          </a:prstGeom>
          <a:noFill/>
          <a:ln/>
        </p:spPr>
        <p:txBody>
          <a:bodyPr wrap="square" lIns="0" tIns="0" rIns="0" bIns="0" rtlCol="0" anchor="t"/>
          <a:lstStyle/>
          <a:p>
            <a:pPr marL="0" indent="0">
              <a:buNone/>
            </a:pPr>
            <a:r>
              <a:rPr lang="en-US" sz="1200" dirty="0">
                <a:solidFill>
                  <a:schemeClr val="accent5"/>
                </a:solidFill>
              </a:rPr>
              <a:t>PES1UG24CS399</a:t>
            </a:r>
            <a:endParaRPr lang="en-US" sz="1200" dirty="0"/>
          </a:p>
        </p:txBody>
      </p:sp>
      <p:sp>
        <p:nvSpPr>
          <p:cNvPr id="12" name="team_b_1"/>
          <p:cNvSpPr txBox="1"/>
          <p:nvPr/>
        </p:nvSpPr>
        <p:spPr>
          <a:xfrm>
            <a:off x="4937760" y="2148840"/>
            <a:ext cx="347472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Dataset, EDA, cleaning, preprocessing, features (1 to 6)</a:t>
            </a:r>
            <a:endParaRPr lang="en-US" sz="1300" dirty="0"/>
          </a:p>
          <a:p>
            <a:pPr marL="342900" indent="-342900">
              <a:spcAft>
                <a:spcPts val="600"/>
              </a:spcAft>
              <a:buSzPct val="100000"/>
              <a:buChar char="•"/>
            </a:pPr>
            <a:r>
              <a:rPr lang="en-US" sz="1300" dirty="0">
                <a:solidFill>
                  <a:schemeClr val="tx1"/>
                </a:solidFill>
              </a:rPr>
              <a:t>Baseline replication (8)</a:t>
            </a:r>
            <a:endParaRPr lang="en-US" sz="1300" dirty="0"/>
          </a:p>
          <a:p>
            <a:pPr marL="342900" indent="-342900">
              <a:spcAft>
                <a:spcPts val="600"/>
              </a:spcAft>
              <a:buSzPct val="100000"/>
              <a:buChar char="•"/>
            </a:pPr>
            <a:r>
              <a:rPr lang="en-US" sz="1300" dirty="0">
                <a:solidFill>
                  <a:schemeClr val="tx1"/>
                </a:solidFill>
              </a:rPr>
              <a:t>Repeated CV (10), feature selection (11)</a:t>
            </a:r>
            <a:endParaRPr lang="en-US" sz="1300" dirty="0"/>
          </a:p>
          <a:p>
            <a:pPr marL="342900" indent="-342900">
              <a:spcAft>
                <a:spcPts val="600"/>
              </a:spcAft>
              <a:buSzPct val="100000"/>
              <a:buChar char="•"/>
            </a:pPr>
            <a:r>
              <a:rPr lang="en-US" sz="1300" dirty="0">
                <a:solidFill>
                  <a:schemeClr val="tx1"/>
                </a:solidFill>
              </a:rPr>
              <a:t>Segmentation study (12)</a:t>
            </a:r>
            <a:endParaRPr lang="en-US" sz="1300" dirty="0"/>
          </a:p>
          <a:p>
            <a:pPr marL="342900" indent="-342900">
              <a:spcAft>
                <a:spcPts val="600"/>
              </a:spcAft>
              <a:buSzPct val="100000"/>
              <a:buChar char="•"/>
            </a:pPr>
            <a:r>
              <a:rPr lang="en-US" sz="1300" dirty="0">
                <a:solidFill>
                  <a:schemeClr val="tx1"/>
                </a:solidFill>
              </a:rPr>
              <a:t>Error analysis and PCA (13)</a:t>
            </a:r>
            <a:endParaRPr lang="en-US" sz="1300" dirty="0"/>
          </a:p>
        </p:txBody>
      </p:sp>
      <p:sp>
        <p:nvSpPr>
          <p:cNvPr id="13" name="team_shared"/>
          <p:cNvSpPr txBox="1"/>
          <p:nvPr/>
        </p:nvSpPr>
        <p:spPr>
          <a:xfrm>
            <a:off x="548640" y="4251960"/>
            <a:ext cx="8046720" cy="365760"/>
          </a:xfrm>
          <a:prstGeom prst="rect">
            <a:avLst/>
          </a:prstGeom>
          <a:noFill/>
          <a:ln/>
        </p:spPr>
        <p:txBody>
          <a:bodyPr wrap="square" lIns="0" tIns="0" rIns="0" bIns="0" rtlCol="0" anchor="t"/>
          <a:lstStyle/>
          <a:p>
            <a:pPr marL="0" indent="0">
              <a:buNone/>
            </a:pPr>
            <a:r>
              <a:rPr lang="en-US" sz="1400" dirty="0">
                <a:solidFill>
                  <a:schemeClr val="tx1"/>
                </a:solidFill>
              </a:rPr>
              <a:t>Both: reading the paper, testing the code, write-up, slides, GitHub repository.</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bg1"/>
                </a:solidFill>
              </a:rPr>
              <a:t>Conclusions</a:t>
            </a:r>
            <a:endParaRPr lang="en-US" sz="3000" dirty="0"/>
          </a:p>
        </p:txBody>
      </p:sp>
      <p:sp>
        <p:nvSpPr>
          <p:cNvPr id="3" name="conc_card_0"/>
          <p:cNvSpPr/>
          <p:nvPr/>
        </p:nvSpPr>
        <p:spPr>
          <a:xfrm>
            <a:off x="548640" y="1234440"/>
            <a:ext cx="3931920" cy="2743200"/>
          </a:xfrm>
          <a:prstGeom prst="roundRect">
            <a:avLst>
              <a:gd name="adj" fmla="val 4000"/>
            </a:avLst>
          </a:prstGeom>
          <a:solidFill>
            <a:srgbClr val="3A2A63"/>
          </a:solidFill>
          <a:ln/>
        </p:spPr>
      </p:sp>
      <p:sp>
        <p:nvSpPr>
          <p:cNvPr id="4" name="conc_h_0"/>
          <p:cNvSpPr txBox="1"/>
          <p:nvPr/>
        </p:nvSpPr>
        <p:spPr>
          <a:xfrm>
            <a:off x="822960" y="1417320"/>
            <a:ext cx="3383280" cy="411480"/>
          </a:xfrm>
          <a:prstGeom prst="rect">
            <a:avLst/>
          </a:prstGeom>
          <a:noFill/>
          <a:ln/>
        </p:spPr>
        <p:txBody>
          <a:bodyPr wrap="square" lIns="0" tIns="0" rIns="0" bIns="0" rtlCol="0" anchor="t"/>
          <a:lstStyle/>
          <a:p>
            <a:pPr marL="0" indent="0">
              <a:buNone/>
            </a:pPr>
            <a:r>
              <a:rPr lang="en-US" sz="2000" b="1" dirty="0">
                <a:solidFill>
                  <a:schemeClr val="accent3"/>
                </a:solidFill>
                <a:latin typeface="Cambria" pitchFamily="34" charset="0"/>
                <a:ea typeface="Cambria" pitchFamily="34" charset="-122"/>
                <a:cs typeface="Cambria" pitchFamily="34" charset="-120"/>
              </a:rPr>
              <a:t>What we learned</a:t>
            </a:r>
            <a:endParaRPr lang="en-US" sz="2000" dirty="0"/>
          </a:p>
        </p:txBody>
      </p:sp>
      <p:sp>
        <p:nvSpPr>
          <p:cNvPr id="5" name="conc_b_0"/>
          <p:cNvSpPr txBox="1"/>
          <p:nvPr/>
        </p:nvSpPr>
        <p:spPr>
          <a:xfrm>
            <a:off x="822960" y="1920240"/>
            <a:ext cx="338328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Audio features alone give ~30% on 13 overlapping playlists</a:t>
            </a:r>
            <a:endParaRPr lang="en-US" sz="1400" dirty="0"/>
          </a:p>
          <a:p>
            <a:pPr marL="342900" indent="-342900">
              <a:spcAft>
                <a:spcPts val="600"/>
              </a:spcAft>
              <a:buSzPct val="100000"/>
              <a:buChar char="•"/>
            </a:pPr>
            <a:r>
              <a:rPr lang="en-US" sz="1400" dirty="0">
                <a:solidFill>
                  <a:schemeClr val="bg1"/>
                </a:solidFill>
              </a:rPr>
              <a:t>Metadata + tuning + tree ensembles: 0.53 CV, 0.55 test, 0.78 top-3</a:t>
            </a:r>
            <a:endParaRPr lang="en-US" sz="1400" dirty="0"/>
          </a:p>
          <a:p>
            <a:pPr marL="342900" indent="-342900">
              <a:spcAft>
                <a:spcPts val="600"/>
              </a:spcAft>
              <a:buSzPct val="100000"/>
              <a:buChar char="•"/>
            </a:pPr>
            <a:r>
              <a:rPr lang="en-US" sz="1400" dirty="0">
                <a:solidFill>
                  <a:schemeClr val="bg1"/>
                </a:solidFill>
              </a:rPr>
              <a:t>Fewer playlists is easier: 0.73 with 5, 0.86 with 2</a:t>
            </a:r>
            <a:endParaRPr lang="en-US" sz="1400" dirty="0"/>
          </a:p>
          <a:p>
            <a:pPr marL="342900" indent="-342900">
              <a:spcAft>
                <a:spcPts val="600"/>
              </a:spcAft>
              <a:buSzPct val="100000"/>
              <a:buChar char="•"/>
            </a:pPr>
            <a:r>
              <a:rPr lang="en-US" sz="1400" dirty="0">
                <a:solidFill>
                  <a:schemeClr val="bg1"/>
                </a:solidFill>
              </a:rPr>
              <a:t>A confidence threshold turns "unsure" into "new playlist"</a:t>
            </a:r>
            <a:endParaRPr lang="en-US" sz="1400" dirty="0"/>
          </a:p>
        </p:txBody>
      </p:sp>
      <p:sp>
        <p:nvSpPr>
          <p:cNvPr id="6" name="conc_card_1"/>
          <p:cNvSpPr/>
          <p:nvPr/>
        </p:nvSpPr>
        <p:spPr>
          <a:xfrm>
            <a:off x="4663440" y="1234440"/>
            <a:ext cx="3931920" cy="2743200"/>
          </a:xfrm>
          <a:prstGeom prst="roundRect">
            <a:avLst>
              <a:gd name="adj" fmla="val 4000"/>
            </a:avLst>
          </a:prstGeom>
          <a:solidFill>
            <a:srgbClr val="3A2A63"/>
          </a:solidFill>
          <a:ln/>
        </p:spPr>
      </p:sp>
      <p:sp>
        <p:nvSpPr>
          <p:cNvPr id="7" name="conc_h_1"/>
          <p:cNvSpPr txBox="1"/>
          <p:nvPr/>
        </p:nvSpPr>
        <p:spPr>
          <a:xfrm>
            <a:off x="4937760" y="1417320"/>
            <a:ext cx="3383280" cy="411480"/>
          </a:xfrm>
          <a:prstGeom prst="rect">
            <a:avLst/>
          </a:prstGeom>
          <a:noFill/>
          <a:ln/>
        </p:spPr>
        <p:txBody>
          <a:bodyPr wrap="square" lIns="0" tIns="0" rIns="0" bIns="0" rtlCol="0" anchor="t"/>
          <a:lstStyle/>
          <a:p>
            <a:pPr marL="0" indent="0">
              <a:buNone/>
            </a:pPr>
            <a:r>
              <a:rPr lang="en-US" sz="2000" b="1" dirty="0">
                <a:solidFill>
                  <a:schemeClr val="accent1"/>
                </a:solidFill>
                <a:latin typeface="Cambria" pitchFamily="34" charset="0"/>
                <a:ea typeface="Cambria" pitchFamily="34" charset="-122"/>
                <a:cs typeface="Cambria" pitchFamily="34" charset="-120"/>
              </a:rPr>
              <a:t>Limits and next steps</a:t>
            </a:r>
            <a:endParaRPr lang="en-US" sz="2000" dirty="0"/>
          </a:p>
        </p:txBody>
      </p:sp>
      <p:sp>
        <p:nvSpPr>
          <p:cNvPr id="8" name="conc_b_1"/>
          <p:cNvSpPr txBox="1"/>
          <p:nvPr/>
        </p:nvSpPr>
        <p:spPr>
          <a:xfrm>
            <a:off x="4937760" y="1920240"/>
            <a:ext cx="338328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Small data, small test split, overlapping playlists</a:t>
            </a:r>
            <a:endParaRPr lang="en-US" sz="1400" dirty="0"/>
          </a:p>
          <a:p>
            <a:pPr marL="342900" indent="-342900">
              <a:spcAft>
                <a:spcPts val="600"/>
              </a:spcAft>
              <a:buSzPct val="100000"/>
              <a:buChar char="•"/>
            </a:pPr>
            <a:r>
              <a:rPr lang="en-US" sz="1400" dirty="0">
                <a:solidFill>
                  <a:schemeClr val="bg1"/>
                </a:solidFill>
              </a:rPr>
              <a:t>Heavy reliance on release year (0.53 vs 0.43 CV without it)</a:t>
            </a:r>
            <a:endParaRPr lang="en-US" sz="1400" dirty="0"/>
          </a:p>
          <a:p>
            <a:pPr marL="342900" indent="-342900">
              <a:spcAft>
                <a:spcPts val="600"/>
              </a:spcAft>
              <a:buSzPct val="100000"/>
              <a:buChar char="•"/>
            </a:pPr>
            <a:r>
              <a:rPr lang="en-US" sz="1400" dirty="0">
                <a:solidFill>
                  <a:schemeClr val="bg1"/>
                </a:solidFill>
              </a:rPr>
              <a:t>Next: genre and artist embeddings (node2vec, GloVe) as in the paper</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PlaylistCurator">
  <a:themeElements>
    <a:clrScheme name="PlaylistCurator">
      <a:dk1>
        <a:srgbClr val="1B1033"/>
      </a:dk1>
      <a:lt1>
        <a:srgbClr val="FFFFFF"/>
      </a:lt1>
      <a:dk2>
        <a:srgbClr val="3A2A63"/>
      </a:dk2>
      <a:lt2>
        <a:srgbClr val="F4F1FA"/>
      </a:lt2>
      <a:accent1>
        <a:srgbClr val="E0457B"/>
      </a:accent1>
      <a:accent2>
        <a:srgbClr val="1F9E94"/>
      </a:accent2>
      <a:accent3>
        <a:srgbClr val="F2B134"/>
      </a:accent3>
      <a:accent4>
        <a:srgbClr val="7A6FA8"/>
      </a:accent4>
      <a:accent5>
        <a:srgbClr val="625C75"/>
      </a:accent5>
      <a:accent6>
        <a:srgbClr val="B7A9D9"/>
      </a:accent6>
      <a:hlink>
        <a:srgbClr val="E0457B"/>
      </a:hlink>
      <a:folHlink>
        <a:srgbClr val="7A6FA8"/>
      </a:folHlink>
    </a:clrScheme>
    <a:fontScheme name="PlaylistCurat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1566</Words>
  <Application>Microsoft Office PowerPoint</Application>
  <PresentationFormat>On-screen Show (16:9)</PresentationFormat>
  <Paragraphs>177</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PlaylistCurator</vt:lpstr>
      <vt:lpstr>Training a Playlist Curator Based on User Taste</vt:lpstr>
      <vt:lpstr>From one song to the right playlist</vt:lpstr>
      <vt:lpstr>Paper baseline vs our changes</vt:lpstr>
      <vt:lpstr>Dataset: from 32,833 songs to 676</vt:lpstr>
      <vt:lpstr>Features and evaluation pipeline</vt:lpstr>
      <vt:lpstr>Replicating the paper's baselines</vt:lpstr>
      <vt:lpstr>Hyperparameter tuning pays off</vt:lpstr>
      <vt:lpstr>Tuned tree ensembles lead</vt:lpstr>
      <vt:lpstr>What drives it, what confuses it</vt:lpstr>
      <vt:lpstr>PowerPoint Presentation</vt:lpstr>
      <vt:lpstr>Suggest a new playlist when unsure</vt:lpstr>
      <vt:lpstr>Live demo: Streamlit app</vt:lpstr>
      <vt:lpstr>Team contributions</vt:lpstr>
      <vt:lpstr>Conclusions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Training a Playlist Curator Based on User Taste</dc:title>
  <dc:subject>PptxGenJS Presentation</dc:subject>
  <dc:creator>Rekha Dhorigol</dc:creator>
  <cp:lastModifiedBy>Rekha Dhorigol</cp:lastModifiedBy>
  <cp:revision>2</cp:revision>
  <dcterms:created xsi:type="dcterms:W3CDTF">2026-10-07T05:08:34Z</dcterms:created>
  <dcterms:modified xsi:type="dcterms:W3CDTF">2026-10-07T05:30:36Z</dcterms:modified>
</cp:coreProperties>
</file>